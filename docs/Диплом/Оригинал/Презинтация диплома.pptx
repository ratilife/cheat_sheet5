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67" r:id="rId11"/>
    <p:sldId id="263" r:id="rId12"/>
    <p:sldId id="268" r:id="rId13"/>
    <p:sldId id="26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BD28C1-D87B-472E-85FD-7D71B15B3D53}">
          <p14:sldIdLst>
            <p14:sldId id="256"/>
            <p14:sldId id="257"/>
            <p14:sldId id="258"/>
            <p14:sldId id="259"/>
            <p14:sldId id="260"/>
            <p14:sldId id="261"/>
            <p14:sldId id="265"/>
            <p14:sldId id="262"/>
            <p14:sldId id="266"/>
            <p14:sldId id="267"/>
            <p14:sldId id="263"/>
            <p14:sldId id="268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ADAC4-74E5-47DD-A8DE-A3978A3AD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B0652A-7324-49B7-89A2-BCA334AE0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5ED2CD-4E71-4D2E-8DAC-762E791B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8DD421-639F-42E3-8624-C52F00839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6FCE70-166B-4C4E-A237-C85ADCC6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78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B9DAF-3524-4467-A706-AB300F1F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4C9089-7559-4BC4-9BBC-28A7541EB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1BE968-F62C-4C82-983D-2E178434C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26FF74-33B2-421E-A71D-E69AC5C0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44CDCC-1327-4553-A497-C76F6288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515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738EA-C6E4-4DFC-8C47-6DA18257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994D32-6C75-4784-BC1C-FA2CE4FAB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688787-7CB1-436A-8DBA-24A760E9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94BF1F-4EB8-4472-A229-D1AF6F0D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FF7D8B-505B-4D24-A1B9-1171BEDC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79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9C697-B0C9-471F-8684-93D5BB0EB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7C38EB-7A12-40FB-8A05-94E751441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FE2FDF-7F98-4EC8-A9D2-EDB9B28FA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0C12B8-C201-4966-98B4-72DC49E11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2C2C5B-4F23-4746-81D2-9015D308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089C29-0E7D-4626-B6EE-2D42C6F8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4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BE84B-2725-48E8-A9E1-4D1AB3CC9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F2B4FB-BA84-46D5-8D81-D6DB16ADE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716770-3837-4FF4-89C3-246586296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727A82-CC93-4EEB-8ED8-390B7F50C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AD245D-3AE9-4B94-BDCE-5BA09127E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DE8F1A-12D3-4969-8ABC-1E6977A9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4B5762-7FD1-4068-AFC3-DBBB6FA3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D8CA71F-E3C3-4B91-9368-FB101E2D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85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8A88A-3045-422F-8821-1AE076A68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33444F-48B8-4CF8-9F00-CFF10D5A5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A2E5C9-8497-477F-8A00-61BB0DD4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C08333D-30E6-4F33-8BCC-56352568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09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8826F0A-F608-4B77-B1A5-681490B2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D568EA-6812-4229-953C-490F3226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5987B6-C252-4ACC-AF33-763472B5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22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9874C-BE7D-4380-B320-84FFA3EC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BE15B3-9F0F-45F7-AEB0-F878B1E7D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D866A7-64F4-429B-98A4-1A04BA67E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F2C720-4B19-45F1-B0E4-062BC95A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5B5FBC-5F16-4148-8888-6105DAAB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A75284-ED4F-4215-9753-93FECD606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7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67E545-36E1-4409-9B2D-2E62D5DC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FF00BD2-F047-4843-BA52-E2652DD8A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C19783-C67A-4BA5-AFE9-7BA4C75EB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DBA37D-067F-4674-AA3E-E937CCF0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8E2DF6-7B8D-43C6-904F-BF17B20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4A7272-69DC-4BA3-A643-FC3D157A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96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721B3-FB13-4535-A577-DD76AF314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89645D-BF4C-4BCE-9D75-EE51C5359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9C0DF7-59E2-4CF2-B59A-B173B874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FD7615-F9BB-47D2-A17D-FA957DF1B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5C2F5E-B580-424D-A45A-F969C2C7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47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91702CE-F49C-4D37-9143-DCDE5E6A3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0BAD51-9591-404E-8DF6-23E97850D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3F76AE-428D-4353-8935-552DFE6C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B240F1-02F8-4822-B132-6792136F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4DBAB4-0388-413B-8955-9A1EDAFE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33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3E6A75-2DEC-4968-948B-E4B469B9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8864CF-B105-43E7-BE02-C6A581CC7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097E71-1E9A-4C94-B4BD-AF0E1F89C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FFB26-2CE6-4D97-B08E-7AA24BD0343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27BE33-D18E-4B89-B382-3D1B7F532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3D4304-D8A4-45D7-AB04-1296341F8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77C32-8A00-4ECD-B119-3FFC0732B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98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2F7F64-8F3D-4760-9594-F0B5E50BF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2400" dirty="0">
                <a:latin typeface="Georgia" panose="02040502050405020303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2400" dirty="0">
                <a:latin typeface="Georgia" panose="02040502050405020303" pitchFamily="18" charset="0"/>
              </a:rPr>
            </a:br>
            <a:r>
              <a:rPr lang="ru-RU" sz="2400" dirty="0">
                <a:latin typeface="Georgia" panose="02040502050405020303" pitchFamily="18" charset="0"/>
              </a:rPr>
              <a:t>МЕЛИТОПОЛЬСКИЙ ГОСУДАРСТВЕННЫЙ УНИВЕРСИТЕТ</a:t>
            </a:r>
            <a:br>
              <a:rPr lang="ru-RU" sz="2400" dirty="0">
                <a:latin typeface="Georgia" panose="02040502050405020303" pitchFamily="18" charset="0"/>
              </a:rPr>
            </a:br>
            <a:br>
              <a:rPr lang="ru-RU" sz="2400" dirty="0">
                <a:latin typeface="Georgia" panose="02040502050405020303" pitchFamily="18" charset="0"/>
              </a:rPr>
            </a:br>
            <a:r>
              <a:rPr lang="ru-RU" sz="2400" dirty="0">
                <a:latin typeface="Georgia" panose="02040502050405020303" pitchFamily="18" charset="0"/>
              </a:rPr>
              <a:t>Факультет технических наук</a:t>
            </a:r>
            <a:br>
              <a:rPr lang="ru-RU" sz="2400" dirty="0">
                <a:latin typeface="Georgia" panose="02040502050405020303" pitchFamily="18" charset="0"/>
              </a:rPr>
            </a:br>
            <a:endParaRPr lang="ru-RU" sz="2400" dirty="0">
              <a:latin typeface="Georgia" panose="02040502050405020303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42FA1F-EC5B-4492-89CE-C60F935B41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>
                <a:latin typeface="Georgia" panose="02040502050405020303" pitchFamily="18" charset="0"/>
              </a:rPr>
              <a:t>Выпускная квалификационная работа бакалавра</a:t>
            </a:r>
            <a:br>
              <a:rPr lang="ru-RU" dirty="0">
                <a:latin typeface="Georgia" panose="02040502050405020303" pitchFamily="18" charset="0"/>
              </a:rPr>
            </a:br>
            <a:br>
              <a:rPr lang="ru-RU" dirty="0">
                <a:latin typeface="Georgia" panose="02040502050405020303" pitchFamily="18" charset="0"/>
              </a:rPr>
            </a:br>
            <a:r>
              <a:rPr lang="ru-RU" dirty="0">
                <a:latin typeface="Georgia" panose="02040502050405020303" pitchFamily="18" charset="0"/>
              </a:rPr>
              <a:t>на тему: «Разработка кроссплатформенного средства оптимизации ключевой учебной информации для подготовки IT-специалистов на основе фоновой обработки структурированных данных»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29BF371-4CF3-480E-A0CB-269BE35C02B6}"/>
              </a:ext>
            </a:extLst>
          </p:cNvPr>
          <p:cNvSpPr txBox="1">
            <a:spLocks/>
          </p:cNvSpPr>
          <p:nvPr/>
        </p:nvSpPr>
        <p:spPr>
          <a:xfrm>
            <a:off x="1703511" y="5301208"/>
            <a:ext cx="10115137" cy="1008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tabLst>
                <a:tab pos="6732588" algn="l"/>
              </a:tabLs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Выполнил: А.А. Ольховой</a:t>
            </a:r>
          </a:p>
          <a:p>
            <a:pPr algn="r">
              <a:tabLst>
                <a:tab pos="6732588" algn="l"/>
              </a:tabLst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>
              <a:tabLst>
                <a:tab pos="6732588" algn="l"/>
              </a:tabLs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Руководитель:  д.т.н., профессор А.А. </a:t>
            </a:r>
            <a:r>
              <a:rPr lang="ru-R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Шапуров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2701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D3D44-4671-4216-811C-3641A07C4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и предмет исследования квалификационной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03958-ED9F-49C0-9BF1-759C90A20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Объект исследования:</a:t>
            </a:r>
          </a:p>
          <a:p>
            <a:pPr marL="0" indent="0">
              <a:buNone/>
            </a:pPr>
            <a:r>
              <a:rPr lang="ru-RU" dirty="0"/>
              <a:t>Учебная информация в IT-подготовке — фрагменты кода (.</a:t>
            </a:r>
            <a:r>
              <a:rPr lang="ru-RU" dirty="0" err="1"/>
              <a:t>st</a:t>
            </a:r>
            <a:r>
              <a:rPr lang="ru-RU" dirty="0"/>
              <a:t>) и документация (.</a:t>
            </a:r>
            <a:r>
              <a:rPr lang="ru-RU" dirty="0" err="1"/>
              <a:t>md</a:t>
            </a:r>
            <a:r>
              <a:rPr lang="ru-RU" dirty="0"/>
              <a:t>).</a:t>
            </a:r>
          </a:p>
          <a:p>
            <a:r>
              <a:rPr lang="ru-RU" b="1" dirty="0"/>
              <a:t>Предмет исследования:</a:t>
            </a:r>
          </a:p>
          <a:p>
            <a:pPr marL="0" indent="0">
              <a:buNone/>
            </a:pPr>
            <a:r>
              <a:rPr lang="ru-RU" dirty="0"/>
              <a:t>Подход к организации этой информации на основе синтаксического анализа и построения единой древовидной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38365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F86AF-B7FF-40C9-AA49-2D0538FD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>
                <a:latin typeface="+mn-lt"/>
              </a:rPr>
              <a:t>Цель квалификационной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6705EB-0F25-4BC7-B70B-8C77FF211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69227"/>
          </a:xfrm>
        </p:spPr>
        <p:txBody>
          <a:bodyPr>
            <a:normAutofit lnSpcReduction="10000"/>
          </a:bodyPr>
          <a:lstStyle/>
          <a:p>
            <a:r>
              <a:rPr lang="ru-RU" sz="4000" b="1" dirty="0">
                <a:latin typeface="Georgia" panose="02040502050405020303" pitchFamily="18" charset="0"/>
              </a:rPr>
              <a:t>Цель:</a:t>
            </a:r>
          </a:p>
          <a:p>
            <a:pPr marL="0" indent="0">
              <a:buNone/>
            </a:pPr>
            <a:r>
              <a:rPr lang="ru-RU" sz="4000" dirty="0">
                <a:latin typeface="Georgia" panose="02040502050405020303" pitchFamily="18" charset="0"/>
              </a:rPr>
              <a:t>Разработать кроссплатформенное программное средство для автоматизированной структуризации, хранения и быстрого доступа к учебным материалам.</a:t>
            </a:r>
          </a:p>
          <a:p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73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25733-9BFD-4B43-B788-3C593DCF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>
                <a:latin typeface="Georgia" panose="02040502050405020303" pitchFamily="18" charset="0"/>
              </a:rPr>
              <a:t>Задачи квалификационной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CFF1A-F959-467C-830B-E3AEC194C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Проанализировать существующие подходы и обосновать требования.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Обосновать архитектурные принципы (иерархия, кроссплатформенность, фоновая обработка).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Разработать многослойную архитектуру приложения.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Реализовать прототип на Python с использованием PySide6 и ANTLR4.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Провести всестороннее тестирование (модульное, интеграционное, функциональное, нагрузочное).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Оценить соответствие цели и практическую применимость.</a:t>
            </a:r>
          </a:p>
        </p:txBody>
      </p:sp>
    </p:spTree>
    <p:extLst>
      <p:ext uri="{BB962C8B-B14F-4D97-AF65-F5344CB8AC3E}">
        <p14:creationId xmlns:p14="http://schemas.microsoft.com/office/powerpoint/2010/main" val="257805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22B33-4531-4F69-BC16-B5DA4BFC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>
                <a:latin typeface="Georgia" panose="02040502050405020303" pitchFamily="18" charset="0"/>
              </a:rPr>
              <a:t>Научная новизна и практическая значимость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128B05-19E1-40EB-AC0B-A043CF9FF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Научная новизна: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Систематизация недостатков существующих решений.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Предложение архитектуры с иерархией, предпросмотром и интеграцией теории/практики.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Методы фоновой обработки (</a:t>
            </a:r>
            <a:r>
              <a:rPr lang="ru-RU" dirty="0" err="1"/>
              <a:t>парсинг</a:t>
            </a:r>
            <a:r>
              <a:rPr lang="ru-RU" dirty="0"/>
              <a:t>, кэширование, наблюдение за файлами).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Практическая значимость: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Снижение времени поиска шаблонов кода.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Повышение качества структурирования знаний.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Применимо студентами и разработчиками, включая специалистов по 1С.</a:t>
            </a:r>
          </a:p>
        </p:txBody>
      </p:sp>
    </p:spTree>
    <p:extLst>
      <p:ext uri="{BB962C8B-B14F-4D97-AF65-F5344CB8AC3E}">
        <p14:creationId xmlns:p14="http://schemas.microsoft.com/office/powerpoint/2010/main" val="145057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DE333-795D-4FA0-9C25-BF34EA2E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>
                <a:latin typeface="Georgia" panose="02040502050405020303" pitchFamily="18" charset="0"/>
              </a:rPr>
              <a:t>Архитектура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E47EE3-13EB-4500-8006-0ED28E049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latin typeface="Georgia" panose="02040502050405020303" pitchFamily="18" charset="0"/>
              </a:rPr>
              <a:t>Четырёхслойная архитектура: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Инфраструктурный слой: конфигурация, </a:t>
            </a:r>
            <a:r>
              <a:rPr lang="ru-RU" dirty="0" err="1">
                <a:latin typeface="Georgia" panose="02040502050405020303" pitchFamily="18" charset="0"/>
              </a:rPr>
              <a:t>file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watcher</a:t>
            </a:r>
            <a:r>
              <a:rPr lang="ru-RU" dirty="0">
                <a:latin typeface="Georgia" panose="02040502050405020303" pitchFamily="18" charset="0"/>
              </a:rPr>
              <a:t>, кэширование.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Слой доступа к данным: </a:t>
            </a:r>
            <a:r>
              <a:rPr lang="ru-RU" dirty="0" err="1">
                <a:latin typeface="Georgia" panose="02040502050405020303" pitchFamily="18" charset="0"/>
              </a:rPr>
              <a:t>парсинг</a:t>
            </a:r>
            <a:r>
              <a:rPr lang="ru-RU" dirty="0">
                <a:latin typeface="Georgia" panose="02040502050405020303" pitchFamily="18" charset="0"/>
              </a:rPr>
              <a:t> ST/MD через ANTLR4, модели дерева.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Слой бизнес-логики: менеджеры, контроллеры, фабрика редакторов.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Georgia" panose="02040502050405020303" pitchFamily="18" charset="0"/>
              </a:rPr>
              <a:t>Слой представления: UI на PySide6 (боковая панель, редакторы, стартовая панель).</a:t>
            </a:r>
          </a:p>
          <a:p>
            <a:r>
              <a:rPr lang="ru-RU" dirty="0">
                <a:latin typeface="Georgia" panose="02040502050405020303" pitchFamily="18" charset="0"/>
              </a:rPr>
              <a:t>Используемые паттерны: MVVM, Observer, Factory.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591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6753B-6B1B-4726-BB09-D2C14F19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>
                <a:latin typeface="Georgia" panose="02040502050405020303" pitchFamily="18" charset="0"/>
              </a:rPr>
              <a:t>Архитектура приложения</a:t>
            </a:r>
            <a:endParaRPr lang="ru-RU" sz="33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73EEF29-2AA8-4A15-8B0E-D6518CE03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3858" y="1364974"/>
            <a:ext cx="6515429" cy="529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9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8FD82-7BC4-44A6-8883-CE3FC9E3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  <a:r>
              <a:rPr lang="ru-RU" sz="3300" dirty="0">
                <a:latin typeface="Georgia" panose="02040502050405020303" pitchFamily="18" charset="0"/>
              </a:rPr>
              <a:t>Ключевые особенности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A095AE-B381-4829-B0AE-EDCFB4A1D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latin typeface="Georgia" panose="02040502050405020303" pitchFamily="18" charset="0"/>
              </a:rPr>
              <a:t>ANTLR4 — синтаксический анализ ST-файлов и построение иерархии.</a:t>
            </a:r>
          </a:p>
          <a:p>
            <a:r>
              <a:rPr lang="ru-RU" dirty="0">
                <a:latin typeface="Georgia" panose="02040502050405020303" pitchFamily="18" charset="0"/>
              </a:rPr>
              <a:t>Фоновый </a:t>
            </a:r>
            <a:r>
              <a:rPr lang="ru-RU" dirty="0" err="1">
                <a:latin typeface="Georgia" panose="02040502050405020303" pitchFamily="18" charset="0"/>
              </a:rPr>
              <a:t>парсинг</a:t>
            </a:r>
            <a:r>
              <a:rPr lang="ru-RU" dirty="0">
                <a:latin typeface="Georgia" panose="02040502050405020303" pitchFamily="18" charset="0"/>
              </a:rPr>
              <a:t> + двухуровневое кэширование — высокая отзывчивость интерфейса.</a:t>
            </a:r>
          </a:p>
          <a:p>
            <a:r>
              <a:rPr lang="ru-RU" dirty="0">
                <a:latin typeface="Georgia" panose="02040502050405020303" pitchFamily="18" charset="0"/>
              </a:rPr>
              <a:t>Единая древовидная модель — совместное отображение .</a:t>
            </a:r>
            <a:r>
              <a:rPr lang="ru-RU" dirty="0" err="1">
                <a:latin typeface="Georgia" panose="02040502050405020303" pitchFamily="18" charset="0"/>
              </a:rPr>
              <a:t>st</a:t>
            </a:r>
            <a:r>
              <a:rPr lang="ru-RU" dirty="0">
                <a:latin typeface="Georgia" panose="02040502050405020303" pitchFamily="18" charset="0"/>
              </a:rPr>
              <a:t> и .</a:t>
            </a:r>
            <a:r>
              <a:rPr lang="ru-RU" dirty="0" err="1">
                <a:latin typeface="Georgia" panose="02040502050405020303" pitchFamily="18" charset="0"/>
              </a:rPr>
              <a:t>md</a:t>
            </a:r>
            <a:r>
              <a:rPr lang="ru-RU" dirty="0">
                <a:latin typeface="Georgia" panose="02040502050405020303" pitchFamily="18" charset="0"/>
              </a:rPr>
              <a:t>.</a:t>
            </a:r>
          </a:p>
          <a:p>
            <a:r>
              <a:rPr lang="ru-RU" dirty="0">
                <a:latin typeface="Georgia" panose="02040502050405020303" pitchFamily="18" charset="0"/>
              </a:rPr>
              <a:t>Стартовая панель — быстрый запуск внешних приложений (IDE, браузер и др.).</a:t>
            </a:r>
          </a:p>
          <a:p>
            <a:r>
              <a:rPr lang="ru-RU" dirty="0">
                <a:latin typeface="Georgia" panose="02040502050405020303" pitchFamily="18" charset="0"/>
              </a:rPr>
              <a:t>Хранение в файловой системе + JSON — без СУБД, легко переносится.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66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7835D-7891-47D2-9CCD-7E17C6E2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/>
              <a:t>Ключевые особенности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5C4992-C5C8-46E2-AA82-61CE0C04F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600" b="1" i="1" dirty="0">
                <a:solidFill>
                  <a:srgbClr val="1D1D1F"/>
                </a:solidFill>
                <a:effectLst/>
                <a:latin typeface="system-ui"/>
              </a:rPr>
              <a:t>дерево </a:t>
            </a:r>
            <a:r>
              <a:rPr lang="en-US" sz="3600" b="1" i="1" dirty="0" err="1">
                <a:solidFill>
                  <a:srgbClr val="1D1D1F"/>
                </a:solidFill>
                <a:effectLst/>
                <a:latin typeface="system-ui"/>
              </a:rPr>
              <a:t>STMDFileTreeModel</a:t>
            </a:r>
            <a:endParaRPr lang="ru-RU" sz="3600" i="1" dirty="0"/>
          </a:p>
          <a:p>
            <a:pPr marL="0" indent="0">
              <a:buNone/>
            </a:pPr>
            <a:r>
              <a:rPr lang="en-US" dirty="0" err="1"/>
              <a:t>root_item</a:t>
            </a:r>
            <a:r>
              <a:rPr lang="en-US" dirty="0"/>
              <a:t> (</a:t>
            </a:r>
            <a:r>
              <a:rPr lang="ru-RU" dirty="0"/>
              <a:t>невидимый)</a:t>
            </a:r>
          </a:p>
          <a:p>
            <a:pPr marL="0" indent="0">
              <a:buNone/>
            </a:pPr>
            <a:r>
              <a:rPr lang="ru-RU" dirty="0"/>
              <a:t>├── </a:t>
            </a:r>
            <a:r>
              <a:rPr lang="ru-RU" dirty="0" err="1"/>
              <a:t>МоиШаблоны</a:t>
            </a:r>
            <a:r>
              <a:rPr lang="ru-RU" dirty="0"/>
              <a:t>.</a:t>
            </a:r>
            <a:r>
              <a:rPr lang="en-US" dirty="0" err="1"/>
              <a:t>st</a:t>
            </a:r>
            <a:r>
              <a:rPr lang="en-US" dirty="0"/>
              <a:t> [file]</a:t>
            </a:r>
          </a:p>
          <a:p>
            <a:pPr marL="0" indent="0">
              <a:buNone/>
            </a:pPr>
            <a:r>
              <a:rPr lang="en-US" dirty="0"/>
              <a:t>│   ├── </a:t>
            </a:r>
            <a:r>
              <a:rPr lang="ru-RU" dirty="0"/>
              <a:t>Шаблоны [</a:t>
            </a:r>
            <a:r>
              <a:rPr lang="en-US" dirty="0"/>
              <a:t>folder]</a:t>
            </a:r>
          </a:p>
          <a:p>
            <a:pPr marL="0" indent="0">
              <a:buNone/>
            </a:pPr>
            <a:r>
              <a:rPr lang="en-US" dirty="0"/>
              <a:t>│   │   </a:t>
            </a:r>
            <a:r>
              <a:rPr lang="ru-RU" dirty="0"/>
              <a:t> </a:t>
            </a:r>
            <a:r>
              <a:rPr lang="en-US" dirty="0"/>
              <a:t>├── </a:t>
            </a:r>
            <a:r>
              <a:rPr lang="ru-RU" dirty="0"/>
              <a:t>Шаблон 1 [</a:t>
            </a:r>
            <a:r>
              <a:rPr lang="en-US" dirty="0"/>
              <a:t>template]</a:t>
            </a:r>
          </a:p>
          <a:p>
            <a:pPr marL="0" indent="0">
              <a:buNone/>
            </a:pPr>
            <a:r>
              <a:rPr lang="en-US" dirty="0"/>
              <a:t>│   │   </a:t>
            </a:r>
            <a:r>
              <a:rPr lang="ru-RU" dirty="0"/>
              <a:t> </a:t>
            </a:r>
            <a:r>
              <a:rPr lang="en-US" dirty="0"/>
              <a:t>└── </a:t>
            </a:r>
            <a:r>
              <a:rPr lang="ru-RU" dirty="0"/>
              <a:t>Шаблон 2 [</a:t>
            </a:r>
            <a:r>
              <a:rPr lang="en-US" dirty="0"/>
              <a:t>template]</a:t>
            </a:r>
          </a:p>
          <a:p>
            <a:pPr marL="0" indent="0">
              <a:buNone/>
            </a:pPr>
            <a:r>
              <a:rPr lang="en-US" dirty="0"/>
              <a:t>│   └── </a:t>
            </a:r>
            <a:r>
              <a:rPr lang="ru-RU" dirty="0"/>
              <a:t>Утилиты [</a:t>
            </a:r>
            <a:r>
              <a:rPr lang="en-US" dirty="0"/>
              <a:t>folder]</a:t>
            </a:r>
          </a:p>
          <a:p>
            <a:pPr marL="0" indent="0">
              <a:buNone/>
            </a:pPr>
            <a:r>
              <a:rPr lang="en-US" dirty="0"/>
              <a:t>│       └── </a:t>
            </a:r>
            <a:r>
              <a:rPr lang="ru-RU" dirty="0"/>
              <a:t>Утилита 1 [</a:t>
            </a:r>
            <a:r>
              <a:rPr lang="en-US" dirty="0"/>
              <a:t>template]</a:t>
            </a:r>
          </a:p>
          <a:p>
            <a:pPr marL="0" indent="0">
              <a:buNone/>
            </a:pPr>
            <a:r>
              <a:rPr lang="en-US" dirty="0"/>
              <a:t>└── README.md [markdown]</a:t>
            </a:r>
          </a:p>
          <a:p>
            <a:pPr marL="0" indent="0">
              <a:buNone/>
            </a:pPr>
            <a:r>
              <a:rPr lang="en-US" dirty="0"/>
              <a:t>    └── </a:t>
            </a:r>
            <a:r>
              <a:rPr lang="ru-RU" dirty="0"/>
              <a:t>Введение [</a:t>
            </a:r>
            <a:r>
              <a:rPr lang="en-US" dirty="0"/>
              <a:t>section]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i="1" dirty="0"/>
              <a:t>Единая древовидная модель для .</a:t>
            </a:r>
            <a:r>
              <a:rPr lang="ru-RU" i="1" dirty="0" err="1"/>
              <a:t>st</a:t>
            </a:r>
            <a:r>
              <a:rPr lang="ru-RU" i="1" dirty="0"/>
              <a:t> и .</a:t>
            </a:r>
            <a:r>
              <a:rPr lang="ru-RU" i="1" dirty="0" err="1"/>
              <a:t>md</a:t>
            </a:r>
            <a:r>
              <a:rPr lang="ru-RU" i="1" dirty="0"/>
              <a:t> файлов</a:t>
            </a:r>
          </a:p>
        </p:txBody>
      </p:sp>
    </p:spTree>
    <p:extLst>
      <p:ext uri="{BB962C8B-B14F-4D97-AF65-F5344CB8AC3E}">
        <p14:creationId xmlns:p14="http://schemas.microsoft.com/office/powerpoint/2010/main" val="1137005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50C54-7663-4D71-9442-25615A90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>
                <a:latin typeface="Georgia" panose="02040502050405020303" pitchFamily="18" charset="0"/>
              </a:rPr>
              <a:t>Ключевые особенности реализации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C521246-5EF7-41E2-90E7-E2DD44771B5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694" y="1385888"/>
            <a:ext cx="3620612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C57394-FE77-4E88-986C-6FE012FC941D}"/>
              </a:ext>
            </a:extLst>
          </p:cNvPr>
          <p:cNvSpPr txBox="1"/>
          <p:nvPr/>
        </p:nvSpPr>
        <p:spPr>
          <a:xfrm>
            <a:off x="838200" y="60175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0" dirty="0">
                <a:solidFill>
                  <a:srgbClr val="1D1D1F"/>
                </a:solidFill>
                <a:effectLst/>
                <a:latin typeface="Georgia" panose="02040502050405020303" pitchFamily="18" charset="0"/>
              </a:rPr>
              <a:t>Иерархия данных и фоновое кэширование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A5A28-E713-49E4-96A5-DCC928648A8D}"/>
              </a:ext>
            </a:extLst>
          </p:cNvPr>
          <p:cNvSpPr txBox="1"/>
          <p:nvPr/>
        </p:nvSpPr>
        <p:spPr>
          <a:xfrm>
            <a:off x="5014982" y="1503547"/>
            <a:ext cx="689872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Georgia" panose="02040502050405020303" pitchFamily="18" charset="0"/>
              </a:rPr>
              <a:t>QTreeView</a:t>
            </a:r>
            <a:r>
              <a:rPr lang="en-US" dirty="0">
                <a:latin typeface="Georgia" panose="02040502050405020303" pitchFamily="18" charset="0"/>
              </a:rPr>
              <a:t> — </a:t>
            </a:r>
            <a:r>
              <a:rPr lang="ru-RU" dirty="0">
                <a:latin typeface="Georgia" panose="02040502050405020303" pitchFamily="18" charset="0"/>
              </a:rPr>
              <a:t>визуализирует данные модели.</a:t>
            </a:r>
          </a:p>
          <a:p>
            <a:r>
              <a:rPr lang="en-US" b="1" dirty="0" err="1">
                <a:latin typeface="Georgia" panose="02040502050405020303" pitchFamily="18" charset="0"/>
              </a:rPr>
              <a:t>STMDFileTreeModel</a:t>
            </a:r>
            <a:r>
              <a:rPr lang="en-US" dirty="0">
                <a:latin typeface="Georgia" panose="02040502050405020303" pitchFamily="18" charset="0"/>
              </a:rPr>
              <a:t> — </a:t>
            </a:r>
            <a:r>
              <a:rPr lang="ru-RU" dirty="0">
                <a:latin typeface="Georgia" panose="02040502050405020303" pitchFamily="18" charset="0"/>
              </a:rPr>
              <a:t>основная модель данных, использует </a:t>
            </a:r>
            <a:r>
              <a:rPr lang="en-US" dirty="0">
                <a:latin typeface="Georgia" panose="02040502050405020303" pitchFamily="18" charset="0"/>
              </a:rPr>
              <a:t>Qt-</a:t>
            </a:r>
            <a:r>
              <a:rPr lang="ru-RU" dirty="0">
                <a:latin typeface="Georgia" panose="02040502050405020303" pitchFamily="18" charset="0"/>
              </a:rPr>
              <a:t>интерфейсы (</a:t>
            </a:r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data(), index(), parent()</a:t>
            </a:r>
            <a:r>
              <a:rPr lang="en-US" dirty="0">
                <a:latin typeface="Georgia" panose="02040502050405020303" pitchFamily="18" charset="0"/>
              </a:rPr>
              <a:t>).</a:t>
            </a:r>
          </a:p>
          <a:p>
            <a:r>
              <a:rPr lang="en-US" b="1" dirty="0" err="1">
                <a:latin typeface="Georgia" panose="02040502050405020303" pitchFamily="18" charset="0"/>
              </a:rPr>
              <a:t>STMDFileTreeItem</a:t>
            </a:r>
            <a:r>
              <a:rPr lang="en-US" b="1" dirty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— </a:t>
            </a:r>
            <a:r>
              <a:rPr lang="ru-RU" dirty="0">
                <a:latin typeface="Georgia" panose="02040502050405020303" pitchFamily="18" charset="0"/>
              </a:rPr>
              <a:t>элемент дерева, хранит метаданные и ссылку на контент.</a:t>
            </a:r>
          </a:p>
          <a:p>
            <a:r>
              <a:rPr lang="en-US" b="1" dirty="0" err="1">
                <a:latin typeface="Georgia" panose="02040502050405020303" pitchFamily="18" charset="0"/>
              </a:rPr>
              <a:t>ContentCache</a:t>
            </a:r>
            <a:r>
              <a:rPr lang="en-US" dirty="0">
                <a:latin typeface="Georgia" panose="02040502050405020303" pitchFamily="18" charset="0"/>
              </a:rPr>
              <a:t> — </a:t>
            </a:r>
            <a:r>
              <a:rPr lang="ru-RU" dirty="0">
                <a:latin typeface="Georgia" panose="02040502050405020303" pitchFamily="18" charset="0"/>
              </a:rPr>
              <a:t>кэш результатов </a:t>
            </a:r>
            <a:r>
              <a:rPr lang="ru-RU" dirty="0" err="1">
                <a:latin typeface="Georgia" panose="02040502050405020303" pitchFamily="18" charset="0"/>
              </a:rPr>
              <a:t>парсинга</a:t>
            </a:r>
            <a:r>
              <a:rPr lang="ru-RU" dirty="0">
                <a:latin typeface="Georgia" panose="02040502050405020303" pitchFamily="18" charset="0"/>
              </a:rPr>
              <a:t> (ускоряет загрузку при повторном обращении).</a:t>
            </a:r>
          </a:p>
          <a:p>
            <a:r>
              <a:rPr lang="en-US" b="1" dirty="0" err="1">
                <a:latin typeface="Georgia" panose="02040502050405020303" pitchFamily="18" charset="0"/>
              </a:rPr>
              <a:t>FileParserService</a:t>
            </a:r>
            <a:r>
              <a:rPr lang="en-US" dirty="0">
                <a:latin typeface="Georgia" panose="02040502050405020303" pitchFamily="18" charset="0"/>
              </a:rPr>
              <a:t> — </a:t>
            </a:r>
            <a:r>
              <a:rPr lang="ru-RU" dirty="0">
                <a:latin typeface="Georgia" panose="02040502050405020303" pitchFamily="18" charset="0"/>
              </a:rPr>
              <a:t>запускает </a:t>
            </a:r>
            <a:r>
              <a:rPr lang="ru-RU" dirty="0" err="1">
                <a:latin typeface="Georgia" panose="02040502050405020303" pitchFamily="18" charset="0"/>
              </a:rPr>
              <a:t>парсинг</a:t>
            </a:r>
            <a:r>
              <a:rPr lang="ru-RU" dirty="0">
                <a:latin typeface="Georgia" panose="02040502050405020303" pitchFamily="18" charset="0"/>
              </a:rPr>
              <a:t> файлов (.</a:t>
            </a:r>
            <a:r>
              <a:rPr lang="en-US" dirty="0" err="1">
                <a:latin typeface="Georgia" panose="02040502050405020303" pitchFamily="18" charset="0"/>
              </a:rPr>
              <a:t>st</a:t>
            </a:r>
            <a:r>
              <a:rPr lang="en-US" dirty="0">
                <a:latin typeface="Georgia" panose="02040502050405020303" pitchFamily="18" charset="0"/>
              </a:rPr>
              <a:t>/.md) </a:t>
            </a:r>
            <a:r>
              <a:rPr lang="ru-RU" dirty="0">
                <a:latin typeface="Georgia" panose="02040502050405020303" pitchFamily="18" charset="0"/>
              </a:rPr>
              <a:t>в фоновом режиме.</a:t>
            </a:r>
          </a:p>
        </p:txBody>
      </p:sp>
    </p:spTree>
    <p:extLst>
      <p:ext uri="{BB962C8B-B14F-4D97-AF65-F5344CB8AC3E}">
        <p14:creationId xmlns:p14="http://schemas.microsoft.com/office/powerpoint/2010/main" val="2497242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2E15F-AFA8-4706-B8E0-955096DE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>
                <a:latin typeface="Georgia" panose="02040502050405020303" pitchFamily="18" charset="0"/>
              </a:rPr>
              <a:t>Решение поставленных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79F7CB-2820-4CE8-8F6A-8A2FA27EF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Georgia" panose="02040502050405020303" pitchFamily="18" charset="0"/>
              </a:rPr>
              <a:t>Все 6 задач успешно выполнены:</a:t>
            </a:r>
          </a:p>
          <a:p>
            <a:r>
              <a:rPr lang="ru-RU" dirty="0">
                <a:latin typeface="Georgia" panose="02040502050405020303" pitchFamily="18" charset="0"/>
              </a:rPr>
              <a:t>Анализ → требования → архитектура → реализация → тестирование → выводы.</a:t>
            </a:r>
          </a:p>
          <a:p>
            <a:r>
              <a:rPr lang="ru-RU" dirty="0">
                <a:latin typeface="Georgia" panose="02040502050405020303" pitchFamily="18" charset="0"/>
              </a:rPr>
              <a:t>Подтверждена корректность, стабильность и производительность.</a:t>
            </a:r>
          </a:p>
          <a:p>
            <a:r>
              <a:rPr lang="ru-RU" dirty="0">
                <a:latin typeface="Georgia" panose="02040502050405020303" pitchFamily="18" charset="0"/>
              </a:rPr>
              <a:t>Интерфейс — интуитивный, кроссплатформенный, не зависит от IDE.</a:t>
            </a:r>
          </a:p>
        </p:txBody>
      </p:sp>
    </p:spTree>
    <p:extLst>
      <p:ext uri="{BB962C8B-B14F-4D97-AF65-F5344CB8AC3E}">
        <p14:creationId xmlns:p14="http://schemas.microsoft.com/office/powerpoint/2010/main" val="1094369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6072E-B91A-47F9-9ACB-4084AAD0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>
                <a:latin typeface="Georgia" panose="02040502050405020303" pitchFamily="18" charset="0"/>
              </a:rPr>
              <a:t>Решение поставленных задач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3FA000F-583C-442D-90A2-5E3149098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14026"/>
            <a:ext cx="5848350" cy="41910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4824B8-2721-4DDA-AFF0-5E43B26C2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449" y="1"/>
            <a:ext cx="2539394" cy="60316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C939BEF-9A3A-43F5-B241-F9BAF111F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028" y="2470966"/>
            <a:ext cx="6806268" cy="36440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8426CE-572C-4DBF-9ADB-07CC690643F0}"/>
              </a:ext>
            </a:extLst>
          </p:cNvPr>
          <p:cNvSpPr txBox="1"/>
          <p:nvPr/>
        </p:nvSpPr>
        <p:spPr>
          <a:xfrm>
            <a:off x="8909108" y="6013984"/>
            <a:ext cx="3315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Georgia" panose="02040502050405020303" pitchFamily="18" charset="0"/>
              </a:rPr>
              <a:t>Боковая панель с деревом .</a:t>
            </a:r>
            <a:r>
              <a:rPr lang="ru-RU" dirty="0" err="1">
                <a:latin typeface="Georgia" panose="02040502050405020303" pitchFamily="18" charset="0"/>
              </a:rPr>
              <a:t>st</a:t>
            </a:r>
            <a:r>
              <a:rPr lang="ru-RU" dirty="0">
                <a:latin typeface="Georgia" panose="02040502050405020303" pitchFamily="18" charset="0"/>
              </a:rPr>
              <a:t>/.</a:t>
            </a:r>
            <a:r>
              <a:rPr lang="ru-RU" dirty="0" err="1">
                <a:latin typeface="Georgia" panose="02040502050405020303" pitchFamily="18" charset="0"/>
              </a:rPr>
              <a:t>md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D41096-2FA2-434B-A433-8434424182E9}"/>
              </a:ext>
            </a:extLst>
          </p:cNvPr>
          <p:cNvSpPr txBox="1"/>
          <p:nvPr/>
        </p:nvSpPr>
        <p:spPr>
          <a:xfrm>
            <a:off x="1494027" y="6152483"/>
            <a:ext cx="3807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Georgia" panose="02040502050405020303" pitchFamily="18" charset="0"/>
              </a:rPr>
              <a:t>Редактор кода с подсветкой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FFAB7C-3F41-43EB-A131-50FFE75F8522}"/>
              </a:ext>
            </a:extLst>
          </p:cNvPr>
          <p:cNvSpPr txBox="1"/>
          <p:nvPr/>
        </p:nvSpPr>
        <p:spPr>
          <a:xfrm>
            <a:off x="1494027" y="1896161"/>
            <a:ext cx="6928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Georgia" panose="02040502050405020303" pitchFamily="18" charset="0"/>
              </a:rPr>
              <a:t>Стартовая панель с кнопками запуска внешних приложений</a:t>
            </a:r>
          </a:p>
        </p:txBody>
      </p:sp>
    </p:spTree>
    <p:extLst>
      <p:ext uri="{BB962C8B-B14F-4D97-AF65-F5344CB8AC3E}">
        <p14:creationId xmlns:p14="http://schemas.microsoft.com/office/powerpoint/2010/main" val="2029016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3105AE-1E40-466E-988A-B2A3104A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300" dirty="0">
                <a:latin typeface="Georgia" panose="02040502050405020303" pitchFamily="18" charset="0"/>
              </a:rPr>
              <a:t>Итоги и 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2AF62A-7D5F-4D12-BDC0-1695C689A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b="1" dirty="0">
                <a:latin typeface="Georgia" panose="02040502050405020303" pitchFamily="18" charset="0"/>
              </a:rPr>
              <a:t>Итог:</a:t>
            </a:r>
          </a:p>
          <a:p>
            <a:pPr marL="457200" lvl="1" indent="0">
              <a:buNone/>
            </a:pPr>
            <a:r>
              <a:rPr lang="ru-RU" dirty="0">
                <a:latin typeface="Georgia" panose="02040502050405020303" pitchFamily="18" charset="0"/>
              </a:rPr>
              <a:t>Создано специализированное, лёгкое и быстрое средство для систематизации знаний и повторного использования решений.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>
                <a:latin typeface="Georgia" panose="02040502050405020303" pitchFamily="18" charset="0"/>
              </a:rPr>
              <a:t>Преимущества: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>
                <a:latin typeface="Georgia" panose="02040502050405020303" pitchFamily="18" charset="0"/>
              </a:rPr>
              <a:t>Не заменяет IDE и не дублирует </a:t>
            </a:r>
            <a:r>
              <a:rPr lang="ru-RU" dirty="0" err="1">
                <a:latin typeface="Georgia" panose="02040502050405020303" pitchFamily="18" charset="0"/>
              </a:rPr>
              <a:t>Notion</a:t>
            </a:r>
            <a:r>
              <a:rPr lang="ru-RU" dirty="0">
                <a:latin typeface="Georgia" panose="02040502050405020303" pitchFamily="18" charset="0"/>
              </a:rPr>
              <a:t>/</a:t>
            </a:r>
            <a:r>
              <a:rPr lang="ru-RU" dirty="0" err="1">
                <a:latin typeface="Georgia" panose="02040502050405020303" pitchFamily="18" charset="0"/>
              </a:rPr>
              <a:t>Obsidian</a:t>
            </a:r>
            <a:r>
              <a:rPr lang="ru-RU" dirty="0">
                <a:latin typeface="Georgia" panose="02040502050405020303" pitchFamily="18" charset="0"/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>
                <a:latin typeface="Georgia" panose="02040502050405020303" pitchFamily="18" charset="0"/>
              </a:rPr>
              <a:t>Работает под Windows, Linux, </a:t>
            </a:r>
            <a:r>
              <a:rPr lang="ru-RU" dirty="0" err="1">
                <a:latin typeface="Georgia" panose="02040502050405020303" pitchFamily="18" charset="0"/>
              </a:rPr>
              <a:t>macOS</a:t>
            </a:r>
            <a:r>
              <a:rPr lang="ru-RU" dirty="0">
                <a:latin typeface="Georgia" panose="02040502050405020303" pitchFamily="18" charset="0"/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>
                <a:latin typeface="Georgia" panose="02040502050405020303" pitchFamily="18" charset="0"/>
              </a:rPr>
              <a:t>Открытая архитектура — легко расширять.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>
                <a:latin typeface="Georgia" panose="02040502050405020303" pitchFamily="18" charset="0"/>
              </a:rPr>
              <a:t>Перспективы</a:t>
            </a:r>
            <a:r>
              <a:rPr lang="ru-RU" dirty="0">
                <a:latin typeface="Georgia" panose="02040502050405020303" pitchFamily="18" charset="0"/>
              </a:rPr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>
                <a:latin typeface="Georgia" panose="02040502050405020303" pitchFamily="18" charset="0"/>
              </a:rPr>
              <a:t>Добавление поддержки новых языков.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>
                <a:latin typeface="Georgia" panose="02040502050405020303" pitchFamily="18" charset="0"/>
              </a:rPr>
              <a:t>Интеграция с API, облачная синхронизация.</a:t>
            </a:r>
          </a:p>
        </p:txBody>
      </p:sp>
    </p:spTree>
    <p:extLst>
      <p:ext uri="{BB962C8B-B14F-4D97-AF65-F5344CB8AC3E}">
        <p14:creationId xmlns:p14="http://schemas.microsoft.com/office/powerpoint/2010/main" val="28797697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637</Words>
  <Application>Microsoft Office PowerPoint</Application>
  <PresentationFormat>Широкоэкранный</PresentationFormat>
  <Paragraphs>82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Georgia</vt:lpstr>
      <vt:lpstr>system-ui</vt:lpstr>
      <vt:lpstr>Wingdings</vt:lpstr>
      <vt:lpstr>Тема Office</vt:lpstr>
      <vt:lpstr>ФЕДЕРАЛЬНОЕ ГОСУДАРСТВЕННОЕ БЮДЖЕТНОЕ ОБРАЗОВАТЕЛЬНОЕ УЧРЕЖДЕНИЕ ВЫСШЕГО ОБРАЗОВАНИЯ МЕЛИТОПОЛЬСКИЙ ГОСУДАРСТВЕННЫЙ УНИВЕРСИТЕТ  Факультет технических наук </vt:lpstr>
      <vt:lpstr>Объект и предмет исследования квалификационной работы</vt:lpstr>
      <vt:lpstr>Цель квалификационной работы</vt:lpstr>
      <vt:lpstr>Задачи квалификационной работы</vt:lpstr>
      <vt:lpstr>Научная новизна и практическая значимость</vt:lpstr>
      <vt:lpstr>Архитектура приложения</vt:lpstr>
      <vt:lpstr>Архитектура приложения</vt:lpstr>
      <vt:lpstr> Ключевые особенности реализации</vt:lpstr>
      <vt:lpstr>Ключевые особенности реализации</vt:lpstr>
      <vt:lpstr>Ключевые особенности реализации</vt:lpstr>
      <vt:lpstr>Решение поставленных задач</vt:lpstr>
      <vt:lpstr>Решение поставленных задач</vt:lpstr>
      <vt:lpstr>Итоги и перспективы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МЕЛИТОПОЛЬСКИЙ ГОСУДАРСТВЕННЫЙ УНИВЕРСИТЕТ  Факультет технических наук </dc:title>
  <dc:creator>Андрей Ольховой</dc:creator>
  <cp:lastModifiedBy>Андрей Ольховой</cp:lastModifiedBy>
  <cp:revision>19</cp:revision>
  <dcterms:created xsi:type="dcterms:W3CDTF">2026-01-11T13:49:15Z</dcterms:created>
  <dcterms:modified xsi:type="dcterms:W3CDTF">2026-01-11T15:26:32Z</dcterms:modified>
</cp:coreProperties>
</file>