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5" r:id="rId1"/>
  </p:sldMasterIdLst>
  <p:sldIdLst>
    <p:sldId id="256" r:id="rId2"/>
    <p:sldId id="257" r:id="rId3"/>
    <p:sldId id="258" r:id="rId4"/>
    <p:sldId id="259" r:id="rId5"/>
    <p:sldId id="273" r:id="rId6"/>
    <p:sldId id="265" r:id="rId7"/>
    <p:sldId id="274" r:id="rId8"/>
    <p:sldId id="261" r:id="rId9"/>
    <p:sldId id="270" r:id="rId10"/>
    <p:sldId id="272" r:id="rId11"/>
    <p:sldId id="260" r:id="rId12"/>
    <p:sldId id="262" r:id="rId13"/>
    <p:sldId id="266" r:id="rId14"/>
    <p:sldId id="267" r:id="rId15"/>
    <p:sldId id="268" r:id="rId16"/>
    <p:sldId id="263" r:id="rId17"/>
    <p:sldId id="264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1BD28C1-D87B-472E-85FD-7D71B15B3D53}">
          <p14:sldIdLst>
            <p14:sldId id="256"/>
            <p14:sldId id="257"/>
            <p14:sldId id="258"/>
            <p14:sldId id="259"/>
            <p14:sldId id="273"/>
            <p14:sldId id="265"/>
            <p14:sldId id="274"/>
            <p14:sldId id="261"/>
            <p14:sldId id="270"/>
            <p14:sldId id="272"/>
            <p14:sldId id="260"/>
            <p14:sldId id="262"/>
            <p14:sldId id="266"/>
            <p14:sldId id="267"/>
            <p14:sldId id="268"/>
            <p14:sldId id="263"/>
            <p14:sldId id="264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2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6941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117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084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293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4161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438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0642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330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981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1998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145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8189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79440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7676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97762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6721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456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96FFB26-2CE6-4D97-B08E-7AA24BD03430}" type="datetimeFigureOut">
              <a:rPr lang="ru-RU" smtClean="0"/>
              <a:t>14.01.2026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277C32-8A00-4ECD-B119-3FFC0732B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1424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6" r:id="rId11"/>
    <p:sldLayoutId id="2147483857" r:id="rId12"/>
    <p:sldLayoutId id="2147483858" r:id="rId13"/>
    <p:sldLayoutId id="2147483859" r:id="rId14"/>
    <p:sldLayoutId id="2147483860" r:id="rId15"/>
    <p:sldLayoutId id="2147483861" r:id="rId16"/>
    <p:sldLayoutId id="214748386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2F7F64-8F3D-4760-9594-F0B5E50BF9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520" y="357682"/>
            <a:ext cx="10484649" cy="2355037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Georgia" panose="02040502050405020303" pitchFamily="18" charset="0"/>
              </a:rPr>
              <a:t>ФЕДЕРАЛЬНОЕ ГОСУДАРСТВЕННОЕ БЮДЖЕТНОЕ ОБРАЗОВАТЕЛЬНОЕ УЧРЕЖДЕНИЕ ВЫСШЕГО ОБРАЗОВАНИЯ</a:t>
            </a: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МЕЛИТОПОЛЬСКИЙ ГОСУДАРСТВЕННЫЙ УНИВЕРСИТЕТ</a:t>
            </a:r>
            <a:br>
              <a:rPr lang="ru-RU" sz="2400" dirty="0">
                <a:latin typeface="Georgia" panose="02040502050405020303" pitchFamily="18" charset="0"/>
              </a:rPr>
            </a:b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Факультет технических наук</a:t>
            </a:r>
            <a:br>
              <a:rPr lang="ru-RU" sz="2400" dirty="0">
                <a:latin typeface="Georgia" panose="02040502050405020303" pitchFamily="18" charset="0"/>
              </a:rPr>
            </a:br>
            <a:endParaRPr lang="ru-RU" sz="2400" dirty="0">
              <a:latin typeface="Georgia" panose="02040502050405020303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242FA1F-EC5B-4492-89CE-C60F935B4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8431" y="3482127"/>
            <a:ext cx="10115137" cy="1881981"/>
          </a:xfrm>
        </p:spPr>
        <p:txBody>
          <a:bodyPr>
            <a:normAutofit lnSpcReduction="10000"/>
          </a:bodyPr>
          <a:lstStyle/>
          <a:p>
            <a:pPr algn="ctr"/>
            <a:r>
              <a:rPr lang="ru-RU" dirty="0">
                <a:latin typeface="Georgia" panose="02040502050405020303" pitchFamily="18" charset="0"/>
              </a:rPr>
              <a:t>Выпускная квалификационная работа бакалавра</a:t>
            </a:r>
            <a:br>
              <a:rPr lang="ru-RU" dirty="0">
                <a:latin typeface="Georgia" panose="02040502050405020303" pitchFamily="18" charset="0"/>
              </a:rPr>
            </a:br>
            <a:br>
              <a:rPr lang="ru-RU" dirty="0">
                <a:latin typeface="Georgia" panose="02040502050405020303" pitchFamily="18" charset="0"/>
              </a:rPr>
            </a:br>
            <a:r>
              <a:rPr lang="ru-RU" dirty="0">
                <a:latin typeface="Georgia" panose="02040502050405020303" pitchFamily="18" charset="0"/>
              </a:rPr>
              <a:t>на тему: «Разработка кроссплатформенного средства оптимизации ключевой учебной информации для подготовки IT-специалистов на основе фоновой обработки структурированных данных»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129BF371-4CF3-480E-A0CB-269BE35C02B6}"/>
              </a:ext>
            </a:extLst>
          </p:cNvPr>
          <p:cNvSpPr txBox="1">
            <a:spLocks/>
          </p:cNvSpPr>
          <p:nvPr/>
        </p:nvSpPr>
        <p:spPr>
          <a:xfrm>
            <a:off x="1554480" y="5244944"/>
            <a:ext cx="10115137" cy="888572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Выполнил: А.А. Ольховой</a:t>
            </a:r>
          </a:p>
          <a:p>
            <a:pPr algn="r">
              <a:tabLst>
                <a:tab pos="6732588" algn="l"/>
              </a:tabLst>
            </a:pP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Руководитель:  д.т.н., профессор А.А. 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Шапуров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2701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CD3D44-4671-4216-811C-3641A07C4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 предмет исследования квалификационной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503958-ED9F-49C0-9BF1-759C90A20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Объект исследования:</a:t>
            </a:r>
          </a:p>
          <a:p>
            <a:pPr marL="0" indent="0">
              <a:buNone/>
            </a:pPr>
            <a:r>
              <a:rPr lang="ru-RU" dirty="0"/>
              <a:t>Учебная информация в IT-подготовке — фрагменты кода (.st) и документация (.md).</a:t>
            </a:r>
          </a:p>
          <a:p>
            <a:r>
              <a:rPr lang="ru-RU" b="1" dirty="0"/>
              <a:t>Предмет исследования:</a:t>
            </a:r>
          </a:p>
          <a:p>
            <a:pPr marL="0" indent="0">
              <a:buNone/>
            </a:pPr>
            <a:r>
              <a:rPr lang="ru-RU" dirty="0"/>
              <a:t>Подход к организации этой информации на основе синтаксического анализа и построения единой древовидной модели.</a:t>
            </a:r>
          </a:p>
        </p:txBody>
      </p:sp>
    </p:spTree>
    <p:extLst>
      <p:ext uri="{BB962C8B-B14F-4D97-AF65-F5344CB8AC3E}">
        <p14:creationId xmlns:p14="http://schemas.microsoft.com/office/powerpoint/2010/main" val="383656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6F86AF-B7FF-40C9-AA49-2D0538FD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+mn-lt"/>
              </a:rPr>
              <a:t>Цель квалификационной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6705EB-0F25-4BC7-B70B-8C77FF211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69227"/>
          </a:xfrm>
        </p:spPr>
        <p:txBody>
          <a:bodyPr>
            <a:normAutofit fontScale="92500" lnSpcReduction="10000"/>
          </a:bodyPr>
          <a:lstStyle/>
          <a:p>
            <a:r>
              <a:rPr lang="ru-RU" sz="4000" b="1" dirty="0">
                <a:latin typeface="Georgia" panose="02040502050405020303" pitchFamily="18" charset="0"/>
              </a:rPr>
              <a:t>Цель:</a:t>
            </a:r>
          </a:p>
          <a:p>
            <a:pPr marL="0" indent="0">
              <a:buNone/>
            </a:pPr>
            <a:r>
              <a:rPr lang="ru-RU" sz="4000" dirty="0">
                <a:latin typeface="Georgia" panose="02040502050405020303" pitchFamily="18" charset="0"/>
              </a:rPr>
              <a:t>Разработать кроссплатформенное программное средство для автоматизированной структуризации, хранения и быстрого доступа к учебным материалам.</a:t>
            </a:r>
          </a:p>
          <a:p>
            <a:endParaRPr lang="ru-RU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731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C25733-9BFD-4B43-B788-3C593DCF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Задачи квалификационной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4CFF1A-F959-467C-830B-E3AEC194C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Проанализировать существующие подходы и обосновать требования.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Обосновать архитектурные принципы (иерархия, кроссплатформенность, фоновая обработка).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Разработать многослойную архитектуру приложения.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Реализовать прототип на Python с использованием PySide6 и ANTLR4.</a:t>
            </a:r>
          </a:p>
        </p:txBody>
      </p:sp>
    </p:spTree>
    <p:extLst>
      <p:ext uri="{BB962C8B-B14F-4D97-AF65-F5344CB8AC3E}">
        <p14:creationId xmlns:p14="http://schemas.microsoft.com/office/powerpoint/2010/main" val="2578059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AA26B6-365E-4D28-BCD0-9C8E9B450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Архитектурные принципы 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7D878D8D-5C82-42E6-A137-10057E94D5D8}"/>
              </a:ext>
            </a:extLst>
          </p:cNvPr>
          <p:cNvSpPr txBox="1">
            <a:spLocks/>
          </p:cNvSpPr>
          <p:nvPr/>
        </p:nvSpPr>
        <p:spPr>
          <a:xfrm>
            <a:off x="8142777" y="1720442"/>
            <a:ext cx="3558892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ru-RU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947254ED-44BB-4D55-B7A5-7987BF924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7276" y="1786845"/>
            <a:ext cx="4534090" cy="2206315"/>
          </a:xfrm>
        </p:spPr>
        <p:txBody>
          <a:bodyPr/>
          <a:lstStyle/>
          <a:p>
            <a:pPr marL="0" indent="0">
              <a:buNone/>
            </a:pPr>
            <a:r>
              <a:rPr lang="ru-RU" sz="24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Кроссплатформенность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Принцип: работа на Windows / Linux / macOS без переписывания кода.</a:t>
            </a:r>
          </a:p>
          <a:p>
            <a:pPr marL="0" indent="0">
              <a:buNone/>
            </a:pP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Зачем: расширение аудитории и независимость от ОС.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EB98DED-E7F5-4316-92B6-561F2C40B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31" y="1718982"/>
            <a:ext cx="6400800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11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46753B-6B1B-4726-BB09-D2C14F19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Архитектурные принципы </a:t>
            </a:r>
            <a:endParaRPr lang="ru-RU" sz="3300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73EEF29-2AA8-4A15-8B0E-D6518CE03F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2114" y="1109560"/>
            <a:ext cx="6719566" cy="54639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DBCC35-C0D7-4A3F-A5B9-5F5F61B497DA}"/>
              </a:ext>
            </a:extLst>
          </p:cNvPr>
          <p:cNvSpPr txBox="1"/>
          <p:nvPr/>
        </p:nvSpPr>
        <p:spPr>
          <a:xfrm>
            <a:off x="7217912" y="6204187"/>
            <a:ext cx="3846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Структура слоев приложения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5A9857A-4B18-4FDD-AB4B-AF4515668DED}"/>
              </a:ext>
            </a:extLst>
          </p:cNvPr>
          <p:cNvSpPr txBox="1">
            <a:spLocks/>
          </p:cNvSpPr>
          <p:nvPr/>
        </p:nvSpPr>
        <p:spPr>
          <a:xfrm>
            <a:off x="7986997" y="1540581"/>
            <a:ext cx="3558892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ru-RU" sz="24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Иерархия (многослойная архитектура)</a:t>
            </a:r>
          </a:p>
          <a:p>
            <a:pPr marL="0" indent="0">
              <a:buFont typeface="Wingdings 3" charset="2"/>
              <a:buNone/>
            </a:pPr>
            <a:r>
              <a:rPr lang="ru-RU" sz="18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Принцип</a:t>
            </a: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: многослойная иерархия</a:t>
            </a:r>
          </a:p>
          <a:p>
            <a:pPr marL="0" indent="0">
              <a:buFont typeface="Wingdings 3" charset="2"/>
              <a:buNone/>
            </a:pP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 </a:t>
            </a:r>
            <a:r>
              <a:rPr lang="ru-RU" sz="18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Зачем</a:t>
            </a:r>
            <a:r>
              <a:rPr lang="ru-RU" sz="1800" dirty="0">
                <a:solidFill>
                  <a:schemeClr val="accent3">
                    <a:lumMod val="40000"/>
                    <a:lumOff val="60000"/>
                  </a:schemeClr>
                </a:solidFill>
                <a:latin typeface="Georgia" panose="02040502050405020303" pitchFamily="18" charset="0"/>
              </a:rPr>
              <a:t>: упрощает поддержку, тестирование и расширение функциональности</a:t>
            </a:r>
          </a:p>
        </p:txBody>
      </p:sp>
    </p:spTree>
    <p:extLst>
      <p:ext uri="{BB962C8B-B14F-4D97-AF65-F5344CB8AC3E}">
        <p14:creationId xmlns:p14="http://schemas.microsoft.com/office/powerpoint/2010/main" val="2188599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099A63F-48BF-494D-8CD3-7C0DB0335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3" y="1691936"/>
            <a:ext cx="8603269" cy="324079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9E5A5-9E1B-4088-933A-2D3A1C1A4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Архитектурные принципы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DE8568-EDA5-45A4-BAB5-12AA3D594225}"/>
              </a:ext>
            </a:extLst>
          </p:cNvPr>
          <p:cNvSpPr txBox="1"/>
          <p:nvPr/>
        </p:nvSpPr>
        <p:spPr>
          <a:xfrm>
            <a:off x="9039021" y="1691935"/>
            <a:ext cx="315297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Фоновая обработка:</a:t>
            </a:r>
          </a:p>
          <a:p>
            <a:r>
              <a:rPr lang="ru-RU" sz="1400" b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Принцип</a:t>
            </a:r>
            <a:r>
              <a:rPr lang="ru-RU" sz="1400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: тяжёлые операции выполняются в фоне, UI остаётся отзывчивым.</a:t>
            </a:r>
          </a:p>
          <a:p>
            <a:r>
              <a:rPr lang="ru-RU" sz="1400" b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Зачем</a:t>
            </a:r>
            <a:r>
              <a:rPr lang="ru-RU" sz="1400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: комфорт пользователя, отсутствие «зависаний» окна</a:t>
            </a:r>
            <a:r>
              <a:rPr lang="ru-RU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7972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7DE333-795D-4FA0-9C25-BF34EA2E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Архитектура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E47EE3-13EB-4500-8006-0ED28E049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Georgia" panose="02040502050405020303" pitchFamily="18" charset="0"/>
              </a:rPr>
              <a:t>Четырёхслойная архитектура: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Инфраструктурный слой: конфигурация, </a:t>
            </a:r>
            <a:r>
              <a:rPr lang="ru-RU" dirty="0" err="1">
                <a:latin typeface="Georgia" panose="02040502050405020303" pitchFamily="18" charset="0"/>
              </a:rPr>
              <a:t>file</a:t>
            </a:r>
            <a:r>
              <a:rPr lang="ru-RU" dirty="0">
                <a:latin typeface="Georgia" panose="02040502050405020303" pitchFamily="18" charset="0"/>
              </a:rPr>
              <a:t> </a:t>
            </a:r>
            <a:r>
              <a:rPr lang="ru-RU" dirty="0" err="1">
                <a:latin typeface="Georgia" panose="02040502050405020303" pitchFamily="18" charset="0"/>
              </a:rPr>
              <a:t>watcher</a:t>
            </a:r>
            <a:r>
              <a:rPr lang="ru-RU" dirty="0">
                <a:latin typeface="Georgia" panose="02040502050405020303" pitchFamily="18" charset="0"/>
              </a:rPr>
              <a:t>, кэширование.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Слой доступа к данным: парсинг ST/MD через ANTLR4, модели дерева.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Слой бизнес-логики: менеджеры, контроллеры, фабрика редакторов.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latin typeface="Georgia" panose="02040502050405020303" pitchFamily="18" charset="0"/>
              </a:rPr>
              <a:t>Слой представления: UI на PySide6 (боковая панель, редакторы, стартовая панель).</a:t>
            </a:r>
          </a:p>
          <a:p>
            <a:r>
              <a:rPr lang="ru-RU" dirty="0">
                <a:latin typeface="Georgia" panose="02040502050405020303" pitchFamily="18" charset="0"/>
              </a:rPr>
              <a:t>Используемые паттерны: MVVM, Observer, Factory.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5917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38572A-4B1F-419C-9631-877683299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Архитектура приложения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35D014A3-6FAA-4B93-A24C-C8A3A81382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1091601"/>
            <a:ext cx="5622609" cy="5659440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5E91DA-36AD-41A3-AE66-EF45C5BE4447}"/>
              </a:ext>
            </a:extLst>
          </p:cNvPr>
          <p:cNvSpPr txBox="1"/>
          <p:nvPr/>
        </p:nvSpPr>
        <p:spPr>
          <a:xfrm>
            <a:off x="6778129" y="5758951"/>
            <a:ext cx="40921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Архитектура приложения реализует паттерны MVVM</a:t>
            </a:r>
          </a:p>
        </p:txBody>
      </p:sp>
    </p:spTree>
    <p:extLst>
      <p:ext uri="{BB962C8B-B14F-4D97-AF65-F5344CB8AC3E}">
        <p14:creationId xmlns:p14="http://schemas.microsoft.com/office/powerpoint/2010/main" val="2629465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7DED1E-26F0-40AA-A63D-0F3CE2658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Georgia" panose="02040502050405020303" pitchFamily="18" charset="0"/>
              </a:rPr>
              <a:t>Архитектура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E01B42-6607-46C8-B5DF-69EE09553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383" y="1946246"/>
            <a:ext cx="8984451" cy="45538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cheat_sheet/</a:t>
            </a:r>
          </a:p>
          <a:p>
            <a:pPr marL="0" indent="0">
              <a:buNone/>
            </a:pPr>
            <a:r>
              <a:rPr lang="en-US" dirty="0"/>
              <a:t>├── </a:t>
            </a:r>
            <a:r>
              <a:rPr lang="ru-RU" dirty="0"/>
              <a:t>📂 </a:t>
            </a:r>
            <a:r>
              <a:rPr lang="en-US" dirty="0"/>
              <a:t>for_program/          </a:t>
            </a:r>
            <a:r>
              <a:rPr lang="ru-RU" dirty="0">
                <a:solidFill>
                  <a:srgbClr val="00B0F0"/>
                </a:solidFill>
              </a:rPr>
              <a:t>Служебные файлы приложения</a:t>
            </a:r>
          </a:p>
          <a:p>
            <a:pPr marL="0" indent="0">
              <a:buNone/>
            </a:pPr>
            <a:r>
              <a:rPr lang="ru-RU" dirty="0"/>
              <a:t>│   ├── 📄 </a:t>
            </a:r>
            <a:r>
              <a:rPr lang="en-US" dirty="0"/>
              <a:t>buttons.json               </a:t>
            </a:r>
            <a:r>
              <a:rPr lang="ru-RU" dirty="0"/>
              <a:t>  </a:t>
            </a:r>
            <a:r>
              <a:rPr lang="ru-RU" dirty="0">
                <a:solidFill>
                  <a:srgbClr val="FFC000"/>
                </a:solidFill>
              </a:rPr>
              <a:t>Конфигурация кнопок стартовой панели</a:t>
            </a:r>
          </a:p>
          <a:p>
            <a:pPr marL="0" indent="0">
              <a:buNone/>
            </a:pPr>
            <a:r>
              <a:rPr lang="ru-RU" dirty="0"/>
              <a:t>│   └── 📄 </a:t>
            </a:r>
            <a:r>
              <a:rPr lang="en-US" dirty="0"/>
              <a:t>saved_files.json           </a:t>
            </a:r>
            <a:r>
              <a:rPr lang="ru-RU" dirty="0">
                <a:solidFill>
                  <a:srgbClr val="FFC000"/>
                </a:solidFill>
              </a:rPr>
              <a:t>Реестр внешних файлов</a:t>
            </a:r>
          </a:p>
          <a:p>
            <a:pPr marL="0" indent="0">
              <a:buNone/>
            </a:pPr>
            <a:r>
              <a:rPr lang="ru-RU" dirty="0"/>
              <a:t>└── 📂 </a:t>
            </a:r>
            <a:r>
              <a:rPr lang="en-US" dirty="0"/>
              <a:t>bookmarks/             </a:t>
            </a:r>
            <a:r>
              <a:rPr lang="ru-RU" dirty="0">
                <a:solidFill>
                  <a:srgbClr val="00B0F0"/>
                </a:solidFill>
              </a:rPr>
              <a:t>Рабочие файлы пользователя </a:t>
            </a:r>
          </a:p>
          <a:p>
            <a:pPr marL="0" indent="0">
              <a:buNone/>
            </a:pPr>
            <a:r>
              <a:rPr lang="ru-RU" dirty="0"/>
              <a:t>    ├── 📂 1</a:t>
            </a:r>
            <a:r>
              <a:rPr lang="en-US" dirty="0"/>
              <a:t>C/                </a:t>
            </a:r>
            <a:r>
              <a:rPr lang="ru-RU" dirty="0"/>
              <a:t>       </a:t>
            </a:r>
            <a:r>
              <a:rPr lang="ru-RU" dirty="0">
                <a:solidFill>
                  <a:srgbClr val="00B0F0"/>
                </a:solidFill>
              </a:rPr>
              <a:t>Вкладка "1</a:t>
            </a:r>
            <a:r>
              <a:rPr lang="en-US" dirty="0">
                <a:solidFill>
                  <a:srgbClr val="00B0F0"/>
                </a:solidFill>
              </a:rPr>
              <a:t>C"</a:t>
            </a:r>
          </a:p>
          <a:p>
            <a:pPr marL="0" indent="0">
              <a:buNone/>
            </a:pPr>
            <a:r>
              <a:rPr lang="en-US" dirty="0"/>
              <a:t>    │   ├── </a:t>
            </a:r>
            <a:r>
              <a:rPr lang="ru-RU" dirty="0"/>
              <a:t>📄 Мои шаблоны.</a:t>
            </a:r>
            <a:r>
              <a:rPr lang="en-US" dirty="0"/>
              <a:t>st         </a:t>
            </a:r>
            <a:r>
              <a:rPr lang="ru-RU" dirty="0">
                <a:solidFill>
                  <a:srgbClr val="FFC000"/>
                </a:solidFill>
              </a:rPr>
              <a:t>Файл с примерами кода 1С</a:t>
            </a:r>
          </a:p>
          <a:p>
            <a:pPr marL="0" indent="0">
              <a:buNone/>
            </a:pPr>
            <a:r>
              <a:rPr lang="ru-RU" dirty="0"/>
              <a:t>    │   ├── 📄 </a:t>
            </a:r>
            <a:r>
              <a:rPr lang="en-US" dirty="0"/>
              <a:t>methods.st             </a:t>
            </a:r>
            <a:r>
              <a:rPr lang="ru-RU" dirty="0"/>
              <a:t>       </a:t>
            </a:r>
            <a:r>
              <a:rPr lang="ru-RU" dirty="0">
                <a:solidFill>
                  <a:srgbClr val="FFC000"/>
                </a:solidFill>
              </a:rPr>
              <a:t>Методы и функции 1С</a:t>
            </a:r>
          </a:p>
          <a:p>
            <a:pPr marL="0" indent="0">
              <a:buNone/>
            </a:pPr>
            <a:r>
              <a:rPr lang="ru-RU" dirty="0"/>
              <a:t>    │   └── 📄 Стандарты.</a:t>
            </a:r>
            <a:r>
              <a:rPr lang="en-US" dirty="0"/>
              <a:t>md           </a:t>
            </a:r>
            <a:r>
              <a:rPr lang="ru-RU" dirty="0"/>
              <a:t> </a:t>
            </a:r>
            <a:r>
              <a:rPr lang="ru-RU" dirty="0">
                <a:solidFill>
                  <a:srgbClr val="FFC000"/>
                </a:solidFill>
              </a:rPr>
              <a:t>Справочная информация по 1С</a:t>
            </a:r>
          </a:p>
          <a:p>
            <a:pPr marL="0" indent="0">
              <a:buNone/>
            </a:pPr>
            <a:r>
              <a:rPr lang="ru-RU" dirty="0"/>
              <a:t>    ├── 📂 </a:t>
            </a:r>
            <a:r>
              <a:rPr lang="en-US" dirty="0"/>
              <a:t>Csharp/            </a:t>
            </a:r>
            <a:r>
              <a:rPr lang="ru-RU" dirty="0"/>
              <a:t>   </a:t>
            </a:r>
            <a:r>
              <a:rPr lang="ru-RU" dirty="0">
                <a:solidFill>
                  <a:srgbClr val="00B0F0"/>
                </a:solidFill>
              </a:rPr>
              <a:t>Вкладка "</a:t>
            </a:r>
            <a:r>
              <a:rPr lang="en-US" dirty="0">
                <a:solidFill>
                  <a:srgbClr val="00B0F0"/>
                </a:solidFill>
              </a:rPr>
              <a:t>C#"</a:t>
            </a:r>
          </a:p>
          <a:p>
            <a:pPr marL="0" indent="0">
              <a:buNone/>
            </a:pPr>
            <a:r>
              <a:rPr lang="en-US" dirty="0"/>
              <a:t>    ├── </a:t>
            </a:r>
            <a:r>
              <a:rPr lang="ru-RU" dirty="0"/>
              <a:t>📂 </a:t>
            </a:r>
            <a:r>
              <a:rPr lang="en-US" dirty="0"/>
              <a:t>java/              </a:t>
            </a:r>
            <a:r>
              <a:rPr lang="ru-RU" dirty="0"/>
              <a:t>      </a:t>
            </a:r>
            <a:r>
              <a:rPr lang="ru-RU" dirty="0">
                <a:solidFill>
                  <a:srgbClr val="00B0F0"/>
                </a:solidFill>
              </a:rPr>
              <a:t>Вкладка "</a:t>
            </a:r>
            <a:r>
              <a:rPr lang="en-US" dirty="0">
                <a:solidFill>
                  <a:srgbClr val="00B0F0"/>
                </a:solidFill>
              </a:rPr>
              <a:t>Java"</a:t>
            </a:r>
          </a:p>
          <a:p>
            <a:pPr marL="0" indent="0">
              <a:buNone/>
            </a:pPr>
            <a:r>
              <a:rPr lang="en-US" dirty="0"/>
              <a:t>    └── </a:t>
            </a:r>
            <a:r>
              <a:rPr lang="ru-RU" dirty="0"/>
              <a:t>📂 </a:t>
            </a:r>
            <a:r>
              <a:rPr lang="en-US" dirty="0"/>
              <a:t>python/            </a:t>
            </a:r>
            <a:r>
              <a:rPr lang="ru-RU" dirty="0"/>
              <a:t>   </a:t>
            </a:r>
            <a:r>
              <a:rPr lang="ru-RU" dirty="0">
                <a:solidFill>
                  <a:srgbClr val="00B0F0"/>
                </a:solidFill>
              </a:rPr>
              <a:t>Вкладка "</a:t>
            </a:r>
            <a:r>
              <a:rPr lang="en-US" dirty="0">
                <a:solidFill>
                  <a:srgbClr val="00B0F0"/>
                </a:solidFill>
              </a:rPr>
              <a:t>Python"</a:t>
            </a:r>
          </a:p>
          <a:p>
            <a:pPr marL="0" indent="0">
              <a:buNone/>
            </a:pPr>
            <a:r>
              <a:rPr lang="en-US" dirty="0"/>
              <a:t>        └── </a:t>
            </a:r>
            <a:r>
              <a:rPr lang="ru-RU" dirty="0"/>
              <a:t>📄 Основы.</a:t>
            </a:r>
            <a:r>
              <a:rPr lang="en-US" dirty="0"/>
              <a:t>st              </a:t>
            </a:r>
            <a:r>
              <a:rPr lang="ru-RU" dirty="0"/>
              <a:t>          </a:t>
            </a:r>
            <a:r>
              <a:rPr lang="ru-RU" dirty="0">
                <a:solidFill>
                  <a:srgbClr val="FFC000"/>
                </a:solidFill>
              </a:rPr>
              <a:t>Основы </a:t>
            </a:r>
            <a:r>
              <a:rPr lang="en-US" dirty="0">
                <a:solidFill>
                  <a:srgbClr val="FFC000"/>
                </a:solidFill>
              </a:rPr>
              <a:t>Python</a:t>
            </a:r>
            <a:endParaRPr lang="ru-RU" dirty="0">
              <a:solidFill>
                <a:srgbClr val="FFC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3A204D-4AF1-407D-8DE2-FA4EF427AA79}"/>
              </a:ext>
            </a:extLst>
          </p:cNvPr>
          <p:cNvSpPr txBox="1"/>
          <p:nvPr/>
        </p:nvSpPr>
        <p:spPr>
          <a:xfrm>
            <a:off x="1064421" y="1064591"/>
            <a:ext cx="60946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Приложение создает организованную систему хранения в корневой папке cheat_sheet:</a:t>
            </a:r>
          </a:p>
        </p:txBody>
      </p:sp>
    </p:spTree>
    <p:extLst>
      <p:ext uri="{BB962C8B-B14F-4D97-AF65-F5344CB8AC3E}">
        <p14:creationId xmlns:p14="http://schemas.microsoft.com/office/powerpoint/2010/main" val="599588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922B33-4531-4F69-BC16-B5DA4BFC9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Практическая значимость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128B05-19E1-40EB-AC0B-A043CF9F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404723" cy="4195481"/>
          </a:xfrm>
        </p:spPr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Снижение времени поиска шаблонов кода.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Повышение качества структурирования знаний.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Осознанный контроль своих знаний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400" dirty="0"/>
              <a:t>Применимо студентами и разработчиками, включая специалистов по 1С.</a:t>
            </a:r>
          </a:p>
        </p:txBody>
      </p:sp>
    </p:spTree>
    <p:extLst>
      <p:ext uri="{BB962C8B-B14F-4D97-AF65-F5344CB8AC3E}">
        <p14:creationId xmlns:p14="http://schemas.microsoft.com/office/powerpoint/2010/main" val="1450573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E8FD82-7BC4-44A6-8883-CE3FC9E35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</a:t>
            </a:r>
            <a:r>
              <a:rPr lang="ru-RU" sz="3300" dirty="0">
                <a:latin typeface="Georgia" panose="02040502050405020303" pitchFamily="18" charset="0"/>
              </a:rPr>
              <a:t>Ключевые особенности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A095AE-B381-4829-B0AE-EDCFB4A1D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Georgia" panose="02040502050405020303" pitchFamily="18" charset="0"/>
              </a:rPr>
              <a:t>ANTLR4 — синтаксический анализ ST-файлов и построение иерархии.</a:t>
            </a:r>
          </a:p>
          <a:p>
            <a:r>
              <a:rPr lang="ru-RU" dirty="0">
                <a:latin typeface="Georgia" panose="02040502050405020303" pitchFamily="18" charset="0"/>
              </a:rPr>
              <a:t>Фоновый парсинг + двухуровневое кэширование — высокая отзывчивость интерфейса.</a:t>
            </a:r>
          </a:p>
          <a:p>
            <a:r>
              <a:rPr lang="ru-RU" dirty="0">
                <a:latin typeface="Georgia" panose="02040502050405020303" pitchFamily="18" charset="0"/>
              </a:rPr>
              <a:t>Единая древовидная модель — совместное отображение .st и .md.</a:t>
            </a:r>
          </a:p>
          <a:p>
            <a:r>
              <a:rPr lang="ru-RU" dirty="0">
                <a:latin typeface="Georgia" panose="02040502050405020303" pitchFamily="18" charset="0"/>
              </a:rPr>
              <a:t>Стартовая панель — быстрый запуск внешних приложений (IDE, браузер и др.).</a:t>
            </a:r>
          </a:p>
          <a:p>
            <a:r>
              <a:rPr lang="ru-RU" dirty="0">
                <a:latin typeface="Georgia" panose="02040502050405020303" pitchFamily="18" charset="0"/>
              </a:rPr>
              <a:t>Хранение в файловой системе + JSON — без СУБД, легко переносится.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9661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CC93E69-41F7-4CA8-B757-2AE7088A8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47" y="1192046"/>
            <a:ext cx="6615094" cy="536712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B7835D-7891-47D2-9CCD-7E17C6E2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Ключевые особенности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5C4992-C5C8-46E2-AA82-61CE0C04F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547" y="1270000"/>
            <a:ext cx="2636413" cy="450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b="1" i="1" dirty="0">
                <a:solidFill>
                  <a:schemeClr val="bg1">
                    <a:lumMod val="75000"/>
                    <a:lumOff val="25000"/>
                  </a:schemeClr>
                </a:solidFill>
                <a:effectLst/>
                <a:latin typeface="system-ui"/>
              </a:rPr>
              <a:t>дерево </a:t>
            </a:r>
            <a:r>
              <a:rPr lang="en-US" sz="1600" b="1" i="1" dirty="0" err="1">
                <a:solidFill>
                  <a:schemeClr val="bg1">
                    <a:lumMod val="75000"/>
                    <a:lumOff val="25000"/>
                  </a:schemeClr>
                </a:solidFill>
                <a:effectLst/>
                <a:latin typeface="system-ui"/>
              </a:rPr>
              <a:t>STMDFileTreeModel</a:t>
            </a:r>
            <a:endParaRPr lang="ru-RU" sz="1600" i="1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endParaRPr lang="ru-RU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27F7A-7DC8-4EED-937F-EF29B8DB68F6}"/>
              </a:ext>
            </a:extLst>
          </p:cNvPr>
          <p:cNvSpPr txBox="1"/>
          <p:nvPr/>
        </p:nvSpPr>
        <p:spPr>
          <a:xfrm>
            <a:off x="7324940" y="6251393"/>
            <a:ext cx="4734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i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Единая древовидная модель для .st и .md файлов</a:t>
            </a:r>
          </a:p>
        </p:txBody>
      </p:sp>
    </p:spTree>
    <p:extLst>
      <p:ext uri="{BB962C8B-B14F-4D97-AF65-F5344CB8AC3E}">
        <p14:creationId xmlns:p14="http://schemas.microsoft.com/office/powerpoint/2010/main" val="113700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850C54-7663-4D71-9442-25615A90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Ключевые особенности реализации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57394-FE77-4E88-986C-6FE012FC941D}"/>
              </a:ext>
            </a:extLst>
          </p:cNvPr>
          <p:cNvSpPr txBox="1"/>
          <p:nvPr/>
        </p:nvSpPr>
        <p:spPr>
          <a:xfrm>
            <a:off x="2734112" y="454106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Georgia" panose="02040502050405020303" pitchFamily="18" charset="0"/>
              </a:rPr>
              <a:t>Иерархия данных и фоновое кэширование</a:t>
            </a:r>
            <a:endParaRPr lang="ru-RU" i="1" dirty="0">
              <a:solidFill>
                <a:schemeClr val="accent3">
                  <a:lumMod val="40000"/>
                  <a:lumOff val="60000"/>
                </a:schemeClr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A5A28-E713-49E4-96A5-DCC928648A8D}"/>
              </a:ext>
            </a:extLst>
          </p:cNvPr>
          <p:cNvSpPr txBox="1"/>
          <p:nvPr/>
        </p:nvSpPr>
        <p:spPr>
          <a:xfrm>
            <a:off x="2795113" y="1785828"/>
            <a:ext cx="68987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Georgia" panose="02040502050405020303" pitchFamily="18" charset="0"/>
              </a:rPr>
              <a:t>QTreeView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визуализирует данные модели.</a:t>
            </a:r>
          </a:p>
          <a:p>
            <a:r>
              <a:rPr lang="en-US" b="1" dirty="0" err="1">
                <a:latin typeface="Georgia" panose="02040502050405020303" pitchFamily="18" charset="0"/>
              </a:rPr>
              <a:t>STMDFileTreeModel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основная модель данных, использует </a:t>
            </a:r>
            <a:r>
              <a:rPr lang="en-US" dirty="0">
                <a:latin typeface="Georgia" panose="02040502050405020303" pitchFamily="18" charset="0"/>
              </a:rPr>
              <a:t>Qt-</a:t>
            </a:r>
            <a:r>
              <a:rPr lang="ru-RU" dirty="0">
                <a:latin typeface="Georgia" panose="02040502050405020303" pitchFamily="18" charset="0"/>
              </a:rPr>
              <a:t>интерфейсы (</a:t>
            </a:r>
            <a:r>
              <a:rPr lang="en-US" dirty="0">
                <a:solidFill>
                  <a:srgbClr val="002060"/>
                </a:solidFill>
                <a:latin typeface="Georgia" panose="02040502050405020303" pitchFamily="18" charset="0"/>
              </a:rPr>
              <a:t>data(), index(), parent()</a:t>
            </a:r>
            <a:r>
              <a:rPr lang="en-US" dirty="0">
                <a:latin typeface="Georgia" panose="02040502050405020303" pitchFamily="18" charset="0"/>
              </a:rPr>
              <a:t>).</a:t>
            </a:r>
          </a:p>
          <a:p>
            <a:r>
              <a:rPr lang="en-US" b="1" dirty="0" err="1">
                <a:latin typeface="Georgia" panose="02040502050405020303" pitchFamily="18" charset="0"/>
              </a:rPr>
              <a:t>STMDFileTreeItem</a:t>
            </a:r>
            <a:r>
              <a:rPr lang="en-US" b="1" dirty="0">
                <a:latin typeface="Georgia" panose="02040502050405020303" pitchFamily="18" charset="0"/>
              </a:rPr>
              <a:t> </a:t>
            </a:r>
            <a:r>
              <a:rPr lang="en-US" dirty="0">
                <a:latin typeface="Georgia" panose="02040502050405020303" pitchFamily="18" charset="0"/>
              </a:rPr>
              <a:t>— </a:t>
            </a:r>
            <a:r>
              <a:rPr lang="ru-RU" dirty="0">
                <a:latin typeface="Georgia" panose="02040502050405020303" pitchFamily="18" charset="0"/>
              </a:rPr>
              <a:t>элемент дерева, хранит метаданные и ссылку на контент.</a:t>
            </a:r>
          </a:p>
          <a:p>
            <a:r>
              <a:rPr lang="en-US" b="1" dirty="0" err="1">
                <a:latin typeface="Georgia" panose="02040502050405020303" pitchFamily="18" charset="0"/>
              </a:rPr>
              <a:t>ContentCache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кэш результатов </a:t>
            </a:r>
            <a:r>
              <a:rPr lang="ru-RU" dirty="0" err="1">
                <a:latin typeface="Georgia" panose="02040502050405020303" pitchFamily="18" charset="0"/>
              </a:rPr>
              <a:t>парсинга</a:t>
            </a:r>
            <a:r>
              <a:rPr lang="ru-RU" dirty="0">
                <a:latin typeface="Georgia" panose="02040502050405020303" pitchFamily="18" charset="0"/>
              </a:rPr>
              <a:t> (ускоряет загрузку при повторном обращении).</a:t>
            </a:r>
          </a:p>
          <a:p>
            <a:r>
              <a:rPr lang="en-US" b="1" dirty="0" err="1">
                <a:latin typeface="Georgia" panose="02040502050405020303" pitchFamily="18" charset="0"/>
              </a:rPr>
              <a:t>FileParserService</a:t>
            </a:r>
            <a:r>
              <a:rPr lang="en-US" dirty="0">
                <a:latin typeface="Georgia" panose="02040502050405020303" pitchFamily="18" charset="0"/>
              </a:rPr>
              <a:t> — </a:t>
            </a:r>
            <a:r>
              <a:rPr lang="ru-RU" dirty="0">
                <a:latin typeface="Georgia" panose="02040502050405020303" pitchFamily="18" charset="0"/>
              </a:rPr>
              <a:t>запускает парсинг файлов (.</a:t>
            </a:r>
            <a:r>
              <a:rPr lang="en-US" dirty="0">
                <a:latin typeface="Georgia" panose="02040502050405020303" pitchFamily="18" charset="0"/>
              </a:rPr>
              <a:t>st/.md) </a:t>
            </a:r>
            <a:r>
              <a:rPr lang="ru-RU" dirty="0">
                <a:latin typeface="Georgia" panose="02040502050405020303" pitchFamily="18" charset="0"/>
              </a:rPr>
              <a:t>в фоновом режиме.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63542679-0B69-4971-A2FA-2A780B202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7289" y="1456571"/>
            <a:ext cx="1590825" cy="4744729"/>
          </a:xfrm>
        </p:spPr>
      </p:pic>
    </p:spTree>
    <p:extLst>
      <p:ext uri="{BB962C8B-B14F-4D97-AF65-F5344CB8AC3E}">
        <p14:creationId xmlns:p14="http://schemas.microsoft.com/office/powerpoint/2010/main" val="2497242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E6072E-B91A-47F9-9ACB-4084AAD04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Решение поставленных задач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3FA000F-583C-442D-90A2-5E3149098B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39590" y="1219314"/>
            <a:ext cx="5848350" cy="419100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84824B8-2721-4DDA-AFF0-5E43B26C2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3449" y="1"/>
            <a:ext cx="2539394" cy="603168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C939BEF-9A3A-43F5-B241-F9BAF111F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360" y="2429887"/>
            <a:ext cx="6006179" cy="321569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637BA83-172E-4898-B065-C14A4CDE3239}"/>
              </a:ext>
            </a:extLst>
          </p:cNvPr>
          <p:cNvSpPr txBox="1"/>
          <p:nvPr/>
        </p:nvSpPr>
        <p:spPr>
          <a:xfrm>
            <a:off x="6982616" y="2837407"/>
            <a:ext cx="24059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system-ui"/>
              </a:rPr>
              <a:t>Интерфейс разработанного кроссплатформенного средства</a:t>
            </a:r>
            <a:endParaRPr lang="ru-RU" i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F2E378-ED72-49C6-8321-5E473B689AB6}"/>
              </a:ext>
            </a:extLst>
          </p:cNvPr>
          <p:cNvSpPr txBox="1"/>
          <p:nvPr/>
        </p:nvSpPr>
        <p:spPr>
          <a:xfrm>
            <a:off x="1328437" y="5749239"/>
            <a:ext cx="240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system-ui"/>
              </a:rPr>
              <a:t>Редактор</a:t>
            </a:r>
            <a:r>
              <a:rPr lang="ru-RU" b="0" i="1" dirty="0">
                <a:solidFill>
                  <a:schemeClr val="accent3">
                    <a:lumMod val="40000"/>
                    <a:lumOff val="60000"/>
                  </a:schemeClr>
                </a:solidFill>
                <a:effectLst/>
                <a:latin typeface="system-ui"/>
              </a:rPr>
              <a:t> </a:t>
            </a:r>
            <a:endParaRPr lang="ru-RU" i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5F935B-4695-4CC8-88F4-6D38C213F848}"/>
              </a:ext>
            </a:extLst>
          </p:cNvPr>
          <p:cNvSpPr txBox="1"/>
          <p:nvPr/>
        </p:nvSpPr>
        <p:spPr>
          <a:xfrm>
            <a:off x="1915666" y="1772235"/>
            <a:ext cx="240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system-ui"/>
              </a:rPr>
              <a:t>Стартовая панель </a:t>
            </a:r>
            <a:endParaRPr lang="ru-RU" i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70BA81-77AF-49C9-938C-466E656565B4}"/>
              </a:ext>
            </a:extLst>
          </p:cNvPr>
          <p:cNvSpPr txBox="1"/>
          <p:nvPr/>
        </p:nvSpPr>
        <p:spPr>
          <a:xfrm>
            <a:off x="9696864" y="6165915"/>
            <a:ext cx="2405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1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system-ui"/>
              </a:rPr>
              <a:t>Боковая панель</a:t>
            </a:r>
            <a:endParaRPr lang="ru-RU" i="1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9016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E2E15F-AFA8-4706-B8E0-955096DE2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Решение поставленных задач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79F7CB-2820-4CE8-8F6A-8A2FA27EF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617818" cy="4195481"/>
          </a:xfrm>
        </p:spPr>
        <p:txBody>
          <a:bodyPr/>
          <a:lstStyle/>
          <a:p>
            <a:r>
              <a:rPr lang="ru-RU" sz="2400" dirty="0">
                <a:latin typeface="Georgia" panose="02040502050405020303" pitchFamily="18" charset="0"/>
              </a:rPr>
              <a:t>Все 4 задач успешно выполнены: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>
                <a:latin typeface="Georgia" panose="02040502050405020303" pitchFamily="18" charset="0"/>
              </a:rPr>
              <a:t>Анализ → требования → архитектура → реализация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>
                <a:latin typeface="Georgia" panose="02040502050405020303" pitchFamily="18" charset="0"/>
              </a:rPr>
              <a:t>Реализация соответствует обоснованным архитектурным принципам.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ru-RU" sz="2000" dirty="0">
                <a:latin typeface="Georgia" panose="02040502050405020303" pitchFamily="18" charset="0"/>
              </a:rPr>
              <a:t>Интерфейс — интуитивный, кроссплатформенный, не зависит от IDE.</a:t>
            </a:r>
          </a:p>
        </p:txBody>
      </p:sp>
    </p:spTree>
    <p:extLst>
      <p:ext uri="{BB962C8B-B14F-4D97-AF65-F5344CB8AC3E}">
        <p14:creationId xmlns:p14="http://schemas.microsoft.com/office/powerpoint/2010/main" val="1094369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3105AE-1E40-466E-988A-B2A3104A2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300" dirty="0">
                <a:latin typeface="Georgia" panose="02040502050405020303" pitchFamily="18" charset="0"/>
              </a:rPr>
              <a:t>Итоги и перспективы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2AF62A-7D5F-4D12-BDC0-1695C689A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402" y="1560352"/>
            <a:ext cx="8984451" cy="4688047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ru-RU" b="1" dirty="0">
                <a:latin typeface="Georgia" panose="02040502050405020303" pitchFamily="18" charset="0"/>
              </a:rPr>
              <a:t>Итог:</a:t>
            </a:r>
          </a:p>
          <a:p>
            <a:pPr marL="457200" lvl="1" indent="0">
              <a:buNone/>
            </a:pPr>
            <a:r>
              <a:rPr lang="ru-RU" dirty="0">
                <a:solidFill>
                  <a:schemeClr val="accent1"/>
                </a:solidFill>
                <a:latin typeface="Georgia" panose="02040502050405020303" pitchFamily="18" charset="0"/>
              </a:rPr>
              <a:t>Создано специализированное, лёгкое и быстрое средство для систематизации знаний и повторного использования решений.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ru-RU" b="1" dirty="0">
                <a:latin typeface="Georgia" panose="02040502050405020303" pitchFamily="18" charset="0"/>
              </a:rPr>
              <a:t>Преимущества: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Не заменяет IDE и не дублирует Notion/Obsidian.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Работает под Windows, Linux, macOS.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Открытая архитектура — легко расширять.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ru-RU" b="1" dirty="0">
                <a:latin typeface="Georgia" panose="02040502050405020303" pitchFamily="18" charset="0"/>
              </a:rPr>
              <a:t>Перспективы</a:t>
            </a:r>
            <a:r>
              <a:rPr lang="ru-RU" dirty="0">
                <a:latin typeface="Georgia" panose="02040502050405020303" pitchFamily="18" charset="0"/>
              </a:rPr>
              <a:t>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ru-RU" dirty="0">
                <a:latin typeface="Georgia" panose="02040502050405020303" pitchFamily="18" charset="0"/>
              </a:rPr>
              <a:t>Добавление поддержки новых языков.</a:t>
            </a:r>
          </a:p>
        </p:txBody>
      </p:sp>
    </p:spTree>
    <p:extLst>
      <p:ext uri="{BB962C8B-B14F-4D97-AF65-F5344CB8AC3E}">
        <p14:creationId xmlns:p14="http://schemas.microsoft.com/office/powerpoint/2010/main" val="2879769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700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B1CEF69-ED2F-4D5E-9640-296879863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6814" y="2050516"/>
            <a:ext cx="9603275" cy="2541431"/>
          </a:xfrm>
        </p:spPr>
        <p:txBody>
          <a:bodyPr/>
          <a:lstStyle/>
          <a:p>
            <a:pPr marL="0" indent="0" algn="ctr">
              <a:buNone/>
            </a:pPr>
            <a:r>
              <a:rPr lang="ru-RU" sz="2000" dirty="0">
                <a:latin typeface="Georgia" panose="02040502050405020303" pitchFamily="18" charset="0"/>
              </a:rPr>
              <a:t>Выпускная квалификационная работа бакалавра</a:t>
            </a:r>
            <a:br>
              <a:rPr lang="ru-RU" sz="2000" dirty="0">
                <a:latin typeface="Georgia" panose="02040502050405020303" pitchFamily="18" charset="0"/>
              </a:rPr>
            </a:br>
            <a:br>
              <a:rPr lang="ru-RU" sz="2000" dirty="0">
                <a:latin typeface="Georgia" panose="02040502050405020303" pitchFamily="18" charset="0"/>
              </a:rPr>
            </a:br>
            <a:r>
              <a:rPr lang="ru-RU" sz="2000" dirty="0">
                <a:latin typeface="Georgia" panose="02040502050405020303" pitchFamily="18" charset="0"/>
              </a:rPr>
              <a:t>на тему: «Разработка кроссплатформенного средства оптимизации ключевой учебной информации для подготовки IT-специалистов на основе фоновой обработки структурированных данных»</a:t>
            </a:r>
          </a:p>
          <a:p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EC6A381-A21F-4F2A-AEC8-8355AA70E9F5}"/>
              </a:ext>
            </a:extLst>
          </p:cNvPr>
          <p:cNvSpPr txBox="1">
            <a:spLocks/>
          </p:cNvSpPr>
          <p:nvPr/>
        </p:nvSpPr>
        <p:spPr>
          <a:xfrm>
            <a:off x="1777463" y="508466"/>
            <a:ext cx="8637073" cy="14376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400" dirty="0">
                <a:latin typeface="Georgia" panose="02040502050405020303" pitchFamily="18" charset="0"/>
              </a:rPr>
              <a:t>ФЕДЕРАЛЬНОЕ ГОСУДАРСТВЕННОЕ БЮДЖЕТНОЕ ОБРАЗОВАТЕЛЬНОЕ УЧРЕЖДЕНИЕ ВЫСШЕГО ОБРАЗОВАНИЯ</a:t>
            </a: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МЕЛИТОПОЛЬСКИЙ ГОСУДАРСТВЕННЫЙ УНИВЕРСИТЕТ</a:t>
            </a:r>
            <a:br>
              <a:rPr lang="ru-RU" sz="2400" dirty="0">
                <a:latin typeface="Georgia" panose="02040502050405020303" pitchFamily="18" charset="0"/>
              </a:rPr>
            </a:br>
            <a:br>
              <a:rPr lang="ru-RU" sz="2400" dirty="0">
                <a:latin typeface="Georgia" panose="02040502050405020303" pitchFamily="18" charset="0"/>
              </a:rPr>
            </a:br>
            <a:r>
              <a:rPr lang="ru-RU" sz="2400" dirty="0">
                <a:latin typeface="Georgia" panose="02040502050405020303" pitchFamily="18" charset="0"/>
              </a:rPr>
              <a:t>Факультет технических наук</a:t>
            </a:r>
            <a:br>
              <a:rPr lang="ru-RU" sz="2400" dirty="0">
                <a:latin typeface="Georgia" panose="02040502050405020303" pitchFamily="18" charset="0"/>
              </a:rPr>
            </a:br>
            <a:endParaRPr lang="ru-RU" sz="2400" dirty="0">
              <a:latin typeface="Georgia" panose="02040502050405020303" pitchFamily="18" charset="0"/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737BC9FB-7CDD-462F-AECC-F244B028FB0B}"/>
              </a:ext>
            </a:extLst>
          </p:cNvPr>
          <p:cNvSpPr txBox="1">
            <a:spLocks/>
          </p:cNvSpPr>
          <p:nvPr/>
        </p:nvSpPr>
        <p:spPr>
          <a:xfrm>
            <a:off x="2468114" y="2512195"/>
            <a:ext cx="8637072" cy="21841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2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ru-RU" sz="1200" dirty="0">
              <a:latin typeface="Georgia" panose="02040502050405020303" pitchFamily="18" charset="0"/>
            </a:endParaRP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8F3D298F-1120-4C30-AFD5-28B0698D3CDE}"/>
              </a:ext>
            </a:extLst>
          </p:cNvPr>
          <p:cNvSpPr txBox="1">
            <a:spLocks/>
          </p:cNvSpPr>
          <p:nvPr/>
        </p:nvSpPr>
        <p:spPr>
          <a:xfrm>
            <a:off x="1636865" y="5157980"/>
            <a:ext cx="10115137" cy="100811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Выполнил: А.А. Ольховой</a:t>
            </a:r>
          </a:p>
          <a:p>
            <a:pPr algn="r">
              <a:tabLst>
                <a:tab pos="6732588" algn="l"/>
              </a:tabLst>
            </a:pP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r">
              <a:tabLst>
                <a:tab pos="6732588" algn="l"/>
              </a:tabLst>
            </a:pP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Руководитель:  д.т.н., профессор А.А. 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Шапуров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57713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490</TotalTime>
  <Words>783</Words>
  <Application>Microsoft Office PowerPoint</Application>
  <PresentationFormat>Широкоэкранный</PresentationFormat>
  <Paragraphs>100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6" baseType="lpstr">
      <vt:lpstr>Arial</vt:lpstr>
      <vt:lpstr>Century Gothic</vt:lpstr>
      <vt:lpstr>Courier New</vt:lpstr>
      <vt:lpstr>Georgia</vt:lpstr>
      <vt:lpstr>system-ui</vt:lpstr>
      <vt:lpstr>Wingdings</vt:lpstr>
      <vt:lpstr>Wingdings 3</vt:lpstr>
      <vt:lpstr>Ион</vt:lpstr>
      <vt:lpstr>ФЕДЕРАЛЬНОЕ ГОСУДАРСТВЕННОЕ БЮДЖЕТНОЕ ОБРАЗОВАТЕЛЬНОЕ УЧРЕЖДЕНИЕ ВЫСШЕГО ОБРАЗОВАНИЯ МЕЛИТОПОЛЬСКИЙ ГОСУДАРСТВЕННЫЙ УНИВЕРСИТЕТ  Факультет технических наук </vt:lpstr>
      <vt:lpstr>Объект и предмет исследования квалификационной работы</vt:lpstr>
      <vt:lpstr>Цель квалификационной работы</vt:lpstr>
      <vt:lpstr>Задачи квалификационной работы</vt:lpstr>
      <vt:lpstr>Архитектурные принципы </vt:lpstr>
      <vt:lpstr>Архитектурные принципы </vt:lpstr>
      <vt:lpstr>Архитектурные принципы </vt:lpstr>
      <vt:lpstr>Архитектура приложения</vt:lpstr>
      <vt:lpstr>Архитектура приложения</vt:lpstr>
      <vt:lpstr>Архитектура приложения</vt:lpstr>
      <vt:lpstr>Практическая значимость</vt:lpstr>
      <vt:lpstr> Ключевые особенности реализации</vt:lpstr>
      <vt:lpstr>Ключевые особенности реализации</vt:lpstr>
      <vt:lpstr>Ключевые особенности реализации</vt:lpstr>
      <vt:lpstr>Решение поставленных задач</vt:lpstr>
      <vt:lpstr>Решение поставленных задач</vt:lpstr>
      <vt:lpstr>Итоги и перспективы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ФЕДЕРАЛЬНОЕ ГОСУДАРСТВЕННОЕ БЮДЖЕТНОЕ ОБРАЗОВАТЕЛЬНОЕ УЧРЕЖДЕНИЕ ВЫСШЕГО ОБРАЗОВАНИЯ МЕЛИТОПОЛЬСКИЙ ГОСУДАРСТВЕННЫЙ УНИВЕРСИТЕТ  Факультет технических наук </dc:title>
  <dc:creator>Андрей Ольховой</dc:creator>
  <cp:lastModifiedBy>Андрей Ольховой</cp:lastModifiedBy>
  <cp:revision>56</cp:revision>
  <dcterms:created xsi:type="dcterms:W3CDTF">2026-01-11T13:49:15Z</dcterms:created>
  <dcterms:modified xsi:type="dcterms:W3CDTF">2026-01-14T15:03:14Z</dcterms:modified>
</cp:coreProperties>
</file>